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31"/>
  </p:handoutMasterIdLst>
  <p:sldIdLst>
    <p:sldId id="259" r:id="rId3"/>
    <p:sldId id="302" r:id="rId4"/>
    <p:sldId id="278" r:id="rId5"/>
    <p:sldId id="304" r:id="rId6"/>
    <p:sldId id="329" r:id="rId7"/>
    <p:sldId id="279" r:id="rId9"/>
    <p:sldId id="331" r:id="rId10"/>
    <p:sldId id="333" r:id="rId11"/>
    <p:sldId id="332" r:id="rId12"/>
    <p:sldId id="291" r:id="rId13"/>
    <p:sldId id="281" r:id="rId14"/>
    <p:sldId id="282" r:id="rId15"/>
    <p:sldId id="308" r:id="rId16"/>
    <p:sldId id="309" r:id="rId17"/>
    <p:sldId id="311" r:id="rId18"/>
    <p:sldId id="283" r:id="rId19"/>
    <p:sldId id="334" r:id="rId20"/>
    <p:sldId id="307" r:id="rId21"/>
    <p:sldId id="306" r:id="rId22"/>
    <p:sldId id="335" r:id="rId23"/>
    <p:sldId id="286" r:id="rId24"/>
    <p:sldId id="337" r:id="rId25"/>
    <p:sldId id="300" r:id="rId26"/>
    <p:sldId id="289" r:id="rId27"/>
    <p:sldId id="290" r:id="rId28"/>
    <p:sldId id="340" r:id="rId29"/>
    <p:sldId id="303" r:id="rId3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23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13" autoAdjust="0"/>
    <p:restoredTop sz="94660"/>
  </p:normalViewPr>
  <p:slideViewPr>
    <p:cSldViewPr snapToGrid="0">
      <p:cViewPr varScale="1">
        <p:scale>
          <a:sx n="77" d="100"/>
          <a:sy n="77" d="100"/>
        </p:scale>
        <p:origin x="19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华文黑体" panose="02010600040101010101" charset="-122"/>
                <a:ea typeface="华文黑体" panose="02010600040101010101" charset="-122"/>
                <a:cs typeface="华文黑体" panose="0201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华文黑体" panose="02010600040101010101" charset="-122"/>
                <a:ea typeface="华文黑体" panose="02010600040101010101" charset="-122"/>
                <a:cs typeface="华文黑体" panose="0201060004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华文黑体" panose="02010600040101010101" charset="-122"/>
                <a:ea typeface="华文黑体" panose="02010600040101010101" charset="-122"/>
                <a:cs typeface="华文黑体" panose="0201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华文黑体" panose="02010600040101010101" charset="-122"/>
                <a:ea typeface="华文黑体" panose="02010600040101010101" charset="-122"/>
                <a:cs typeface="华文黑体" panose="02010600040101010101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华文黑体" panose="02010600040101010101" charset="-122"/>
        <a:ea typeface="华文黑体" panose="02010600040101010101" charset="-122"/>
        <a:cs typeface="华文黑体" panose="0201060004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华文黑体" panose="02010600040101010101" charset="-122"/>
        <a:ea typeface="华文黑体" panose="02010600040101010101" charset="-122"/>
        <a:cs typeface="华文黑体" panose="0201060004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华文黑体" panose="02010600040101010101" charset="-122"/>
        <a:ea typeface="华文黑体" panose="02010600040101010101" charset="-122"/>
        <a:cs typeface="华文黑体" panose="0201060004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华文黑体" panose="02010600040101010101" charset="-122"/>
        <a:ea typeface="华文黑体" panose="02010600040101010101" charset="-122"/>
        <a:cs typeface="华文黑体" panose="0201060004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华文黑体" panose="02010600040101010101" charset="-122"/>
        <a:ea typeface="华文黑体" panose="02010600040101010101" charset="-122"/>
        <a:cs typeface="华文黑体" panose="0201060004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说，当前巡检数字化存在四大共性短板。第一，系统只提供瞬时告警，无法通过历史数据分析预判设备的隐性故障。第二，巡检质量考核完全依赖人工，效率低下且标准不一。第三，设备自动巡检和人员手动巡检的数据是割裂的，无法识别两者叠加产生的复合风险。第四，海量巡检数据的价值没有被充分挖掘，无法为管理决策提供有效支持。这些痛点正是我们项目要解决的核心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更直观地展示痛点，我们来看一个具体的业务场景：报警处置与监控。如这张流程图所示，传统流程完全依赖监控员人工监视和判断。这导致了三大痛点：首先，系统只能在问题发生后告警，无法提前预判；其次，人工长时间监控极易疲劳，导致误判；最后，不同系统的数据是孤立的，无法进行自动校验。这些问题都给安全生产带来了巨大隐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痛点场景是生产数据复核与报表生成。如这张“运行日报”流程图所示，值班员每天需要从多个系统中手动复制粘贴数据，才能完成一份报表。这种重复性劳动不仅效率低下，而且容易出错。更可惜的是，这些宝贵的数据在人工汇总后大多只是静态存档，其背后隐藏的趋势和价值没有被挖掘出来，无法支撑预测性维护等更高级的管理决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来看作业计划与执行监控场景。这张流程图清晰地展示了一个重点作业从计划到完成的全过程。可以看到，其中涉及大量的人工操作和跨系统协同。这不仅导致管理人员核查工作量巨大，效率低下，而且流程繁琐，极易出错。更重要的是，系统无法将设备的异常状态与人员的巡检行为关联起来，形成了巨大的安全管控盲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功能层面，我们通过“设备”和“人员”双引擎，精准补齐了行业两大能力缺口。设备端，我们实现了从简单告警到深度研判的跨越，能够预测设备故障。人员端，我们实现了从记录到质量控制的升级，能够自动考评巡检工作。更重要的是，我们能识别设备异常和人员漏检叠加的复合风险，并自动生成各类报表，为管理决策提供数据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在技术细节上，我们构建了管网专属的巡检知识图谱，为AI提供了专业的“大脑”。通过WeAgent轻量化智能体，我们实现了全流程的自动化。通过创新的双模态交互，我们极大地降低了使用门槛。这些创新带来了实实在在的效益：单场站部署周期缩短到1天以内，资料人工核查工作量降低80%，考核统计工时缩减超过60%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成员在各自领域都拥有丰富的经验。项目负责人吴春是生产运维管理的资深专家；程青青是数字化业务的领军人物；王佳是IMS平台的资深项目经理；黄岩是AI数据研发的专家；何燕龙是监视中心的业务骨干；彭灿明负责平台开发；姜天越负责视觉模型研发。这样的组合确保了我们的方案既懂业务，又懂技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华文黑体" panose="02010600040101010101" charset="-122"/>
                <a:ea typeface="华文黑体" panose="02010600040101010101" charset="-122"/>
                <a:cs typeface="华文黑体" panose="02010600040101010101" charset="-122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华文黑体" panose="02010600040101010101" charset="-122"/>
                <a:ea typeface="华文黑体" panose="02010600040101010101" charset="-122"/>
                <a:cs typeface="华文黑体" panose="0201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华文黑体" panose="02010600040101010101" charset="-122"/>
                <a:ea typeface="华文黑体" panose="02010600040101010101" charset="-122"/>
                <a:cs typeface="华文黑体" panose="02010600040101010101" charset="-122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华文黑体" panose="02010600040101010101" charset="-122"/>
          <a:ea typeface="华文黑体" panose="02010600040101010101" charset="-122"/>
          <a:cs typeface="华文黑体" panose="0201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华文黑体" panose="02010600040101010101" charset="-122"/>
          <a:ea typeface="华文黑体" panose="02010600040101010101" charset="-122"/>
          <a:cs typeface="华文黑体" panose="0201060004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华文黑体" panose="02010600040101010101" charset="-122"/>
          <a:ea typeface="华文黑体" panose="02010600040101010101" charset="-122"/>
          <a:cs typeface="华文黑体" panose="0201060004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华文黑体" panose="02010600040101010101" charset="-122"/>
          <a:ea typeface="华文黑体" panose="02010600040101010101" charset="-122"/>
          <a:cs typeface="华文黑体" panose="0201060004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华文黑体" panose="02010600040101010101" charset="-122"/>
          <a:ea typeface="华文黑体" panose="02010600040101010101" charset="-122"/>
          <a:cs typeface="华文黑体" panose="0201060004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华文黑体" panose="02010600040101010101" charset="-122"/>
          <a:ea typeface="华文黑体" panose="02010600040101010101" charset="-122"/>
          <a:cs typeface="华文黑体" panose="0201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.xml"/><Relationship Id="rId15" Type="http://schemas.microsoft.com/office/2007/relationships/hdphoto" Target="../media/image6.wdp"/><Relationship Id="rId14" Type="http://schemas.openxmlformats.org/officeDocument/2006/relationships/image" Target="../media/image5.png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themeOverride" Target="../theme/themeOverride2.xml"/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themeOverride" Target="../theme/themeOverride3.xml"/><Relationship Id="rId3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themeOverride" Target="../theme/themeOverride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image" Target="../media/image16.svg"/><Relationship Id="rId7" Type="http://schemas.openxmlformats.org/officeDocument/2006/relationships/image" Target="../media/image11.png"/><Relationship Id="rId6" Type="http://schemas.openxmlformats.org/officeDocument/2006/relationships/tags" Target="../tags/tag13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Relationship Id="rId37" Type="http://schemas.openxmlformats.org/officeDocument/2006/relationships/slideLayout" Target="../slideLayouts/slideLayout1.xml"/><Relationship Id="rId36" Type="http://schemas.openxmlformats.org/officeDocument/2006/relationships/image" Target="../media/image30.emf"/><Relationship Id="rId35" Type="http://schemas.openxmlformats.org/officeDocument/2006/relationships/tags" Target="../tags/tag27.xml"/><Relationship Id="rId34" Type="http://schemas.openxmlformats.org/officeDocument/2006/relationships/image" Target="../media/image29.svg"/><Relationship Id="rId33" Type="http://schemas.openxmlformats.org/officeDocument/2006/relationships/tags" Target="../tags/tag26.xml"/><Relationship Id="rId32" Type="http://schemas.openxmlformats.org/officeDocument/2006/relationships/image" Target="../media/image28.svg"/><Relationship Id="rId31" Type="http://schemas.openxmlformats.org/officeDocument/2006/relationships/tags" Target="../tags/tag25.xml"/><Relationship Id="rId30" Type="http://schemas.openxmlformats.org/officeDocument/2006/relationships/image" Target="../media/image27.svg"/><Relationship Id="rId3" Type="http://schemas.microsoft.com/office/2007/relationships/hdphoto" Target="../media/image6.wdp"/><Relationship Id="rId29" Type="http://schemas.openxmlformats.org/officeDocument/2006/relationships/tags" Target="../tags/tag24.xml"/><Relationship Id="rId28" Type="http://schemas.openxmlformats.org/officeDocument/2006/relationships/image" Target="../media/image26.svg"/><Relationship Id="rId27" Type="http://schemas.openxmlformats.org/officeDocument/2006/relationships/tags" Target="../tags/tag23.xml"/><Relationship Id="rId26" Type="http://schemas.openxmlformats.org/officeDocument/2006/relationships/image" Target="../media/image25.svg"/><Relationship Id="rId25" Type="http://schemas.openxmlformats.org/officeDocument/2006/relationships/tags" Target="../tags/tag22.xml"/><Relationship Id="rId24" Type="http://schemas.openxmlformats.org/officeDocument/2006/relationships/image" Target="../media/image24.svg"/><Relationship Id="rId23" Type="http://schemas.openxmlformats.org/officeDocument/2006/relationships/tags" Target="../tags/tag21.xml"/><Relationship Id="rId22" Type="http://schemas.openxmlformats.org/officeDocument/2006/relationships/image" Target="../media/image23.svg"/><Relationship Id="rId21" Type="http://schemas.openxmlformats.org/officeDocument/2006/relationships/tags" Target="../tags/tag20.xml"/><Relationship Id="rId20" Type="http://schemas.openxmlformats.org/officeDocument/2006/relationships/image" Target="../media/image22.svg"/><Relationship Id="rId2" Type="http://schemas.openxmlformats.org/officeDocument/2006/relationships/image" Target="../media/image5.png"/><Relationship Id="rId19" Type="http://schemas.openxmlformats.org/officeDocument/2006/relationships/tags" Target="../tags/tag19.xml"/><Relationship Id="rId18" Type="http://schemas.openxmlformats.org/officeDocument/2006/relationships/image" Target="../media/image21.svg"/><Relationship Id="rId17" Type="http://schemas.openxmlformats.org/officeDocument/2006/relationships/tags" Target="../tags/tag18.xml"/><Relationship Id="rId16" Type="http://schemas.openxmlformats.org/officeDocument/2006/relationships/image" Target="../media/image20.svg"/><Relationship Id="rId15" Type="http://schemas.openxmlformats.org/officeDocument/2006/relationships/tags" Target="../tags/tag17.xml"/><Relationship Id="rId14" Type="http://schemas.openxmlformats.org/officeDocument/2006/relationships/image" Target="../media/image19.svg"/><Relationship Id="rId13" Type="http://schemas.openxmlformats.org/officeDocument/2006/relationships/tags" Target="../tags/tag16.xml"/><Relationship Id="rId12" Type="http://schemas.openxmlformats.org/officeDocument/2006/relationships/image" Target="../media/image18.svg"/><Relationship Id="rId11" Type="http://schemas.openxmlformats.org/officeDocument/2006/relationships/tags" Target="../tags/tag15.xml"/><Relationship Id="rId10" Type="http://schemas.openxmlformats.org/officeDocument/2006/relationships/image" Target="../media/image17.sv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8.xml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2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5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6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7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8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cer搜索：半想象现实   http://chn.docer.com/works/?userid=199927538"/>
          <p:cNvSpPr txBox="1"/>
          <p:nvPr/>
        </p:nvSpPr>
        <p:spPr>
          <a:xfrm>
            <a:off x="1322190" y="2368510"/>
            <a:ext cx="7440720" cy="923330"/>
          </a:xfrm>
          <a:prstGeom prst="rect">
            <a:avLst/>
          </a:prstGeom>
          <a:noFill/>
          <a:ln>
            <a:noFill/>
          </a:ln>
          <a:effectLst>
            <a:reflection blurRad="6350" stA="50000" endA="300" endPos="55000" dir="5400000" sy="-100000" algn="bl" rotWithShape="0"/>
          </a:effectLst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巡检质量智能分析助手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Docer搜索：半想象现实   http://chn.docer.com/works/?userid=199927538"/>
          <p:cNvSpPr txBox="1"/>
          <p:nvPr/>
        </p:nvSpPr>
        <p:spPr>
          <a:xfrm>
            <a:off x="1549945" y="3928110"/>
            <a:ext cx="6213342" cy="1303020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Id2"/>
                  <a:srcRect/>
                  <a:stretch>
                    <a:fillRect/>
                  </a:stretch>
                </a:blipFill>
              </a:defRPr>
            </a:lvl1pPr>
          </a:lstStyle>
          <a:p>
            <a:pPr lvl="0" algn="l">
              <a:lnSpc>
                <a:spcPct val="150000"/>
              </a:lnSpc>
              <a:defRPr/>
            </a:pPr>
            <a:r>
              <a:rPr lang="zh-CN" altLang="en-US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团</a:t>
            </a:r>
            <a:r>
              <a:rPr lang="en-US" altLang="zh-CN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 </a:t>
            </a:r>
            <a:r>
              <a:rPr lang="zh-CN" altLang="en-US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队</a:t>
            </a:r>
            <a:r>
              <a:rPr lang="en-US" altLang="zh-CN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  </a:t>
            </a:r>
            <a:r>
              <a:rPr lang="zh-CN" altLang="en-US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名</a:t>
            </a:r>
            <a:r>
              <a:rPr lang="en-US" altLang="zh-CN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 </a:t>
            </a:r>
            <a:r>
              <a:rPr lang="zh-CN" altLang="en-US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称：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管网弈智先锋队</a:t>
            </a:r>
            <a:endParaRPr lang="en-US" altLang="zh-CN" sz="20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  <a:sym typeface="Calibri" panose="020F0502020204030204" charset="0"/>
            </a:endParaRPr>
          </a:p>
          <a:p>
            <a:pPr lvl="0" algn="l">
              <a:lnSpc>
                <a:spcPct val="150000"/>
              </a:lnSpc>
              <a:defRPr/>
            </a:pPr>
            <a:r>
              <a:rPr lang="zh-CN" altLang="en-US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团</a:t>
            </a:r>
            <a:r>
              <a:rPr lang="en-US" altLang="zh-CN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 </a:t>
            </a:r>
            <a:r>
              <a:rPr lang="zh-CN" altLang="en-US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队</a:t>
            </a:r>
            <a:r>
              <a:rPr lang="en-US" altLang="zh-CN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  </a:t>
            </a:r>
            <a:r>
              <a:rPr lang="zh-CN" altLang="en-US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成</a:t>
            </a:r>
            <a:r>
              <a:rPr lang="en-US" altLang="zh-CN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 </a:t>
            </a:r>
            <a:r>
              <a:rPr lang="zh-CN" altLang="en-US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员：</a:t>
            </a:r>
            <a:r>
              <a:rPr lang="zh-CN" altLang="en-US" sz="2000" b="0" dirty="0">
                <a:solidFill>
                  <a:srgbClr val="DC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吴春、程青青、王佳、黄岩、何燕龙</a:t>
            </a:r>
            <a:endParaRPr lang="zh-CN" altLang="en-US" sz="2000" b="0" dirty="0">
              <a:solidFill>
                <a:srgbClr val="DC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549945" y="3617595"/>
            <a:ext cx="5400000" cy="107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>
            <a:grpSpLocks noChangeAspect="1"/>
          </p:cNvGrpSpPr>
          <p:nvPr/>
        </p:nvGrpSpPr>
        <p:grpSpPr>
          <a:xfrm>
            <a:off x="-218440" y="57785"/>
            <a:ext cx="2402840" cy="779780"/>
            <a:chOff x="136" y="363"/>
            <a:chExt cx="3784" cy="122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" r="100"/>
            <a:stretch>
              <a:fillRect/>
            </a:stretch>
          </p:blipFill>
          <p:spPr>
            <a:xfrm>
              <a:off x="136" y="363"/>
              <a:ext cx="2172" cy="1198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4" b="654"/>
            <a:stretch>
              <a:fillRect/>
            </a:stretch>
          </p:blipFill>
          <p:spPr>
            <a:xfrm>
              <a:off x="1752" y="541"/>
              <a:ext cx="2168" cy="1050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8726170" y="1802130"/>
            <a:ext cx="2762250" cy="3429000"/>
            <a:chOff x="13742" y="2838"/>
            <a:chExt cx="4350" cy="5400"/>
          </a:xfrm>
          <a:effectLst>
            <a:reflection blurRad="6350" stA="50000" endA="300" endPos="38500" dist="50800" dir="5400000" sy="-100000" algn="bl" rotWithShape="0"/>
          </a:effectLst>
        </p:grpSpPr>
        <p:sp>
          <p:nvSpPr>
            <p:cNvPr id="11" name="圆角矩形 10"/>
            <p:cNvSpPr>
              <a:spLocks noGrp="1"/>
            </p:cNvSpPr>
            <p:nvPr/>
          </p:nvSpPr>
          <p:spPr>
            <a:xfrm>
              <a:off x="13742" y="2838"/>
              <a:ext cx="4350" cy="5400"/>
            </a:xfrm>
            <a:prstGeom prst="roundRect">
              <a:avLst>
                <a:gd name="adj" fmla="val 2759"/>
              </a:avLst>
            </a:prstGeom>
            <a:solidFill>
              <a:srgbClr val="FFFFFF">
                <a:alpha val="12000"/>
              </a:srgbClr>
            </a:solidFill>
            <a:ln w="19050">
              <a:solidFill>
                <a:srgbClr val="65C7FF"/>
              </a:solidFill>
              <a:prstDash val="solid"/>
            </a:ln>
          </p:spPr>
        </p:sp>
        <p:sp>
          <p:nvSpPr>
            <p:cNvPr id="12" name="矩形 11"/>
            <p:cNvSpPr>
              <a:spLocks noGrp="1"/>
            </p:cNvSpPr>
            <p:nvPr/>
          </p:nvSpPr>
          <p:spPr>
            <a:xfrm>
              <a:off x="14417" y="3663"/>
              <a:ext cx="3000" cy="3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lnSpc>
                  <a:spcPct val="150000"/>
                </a:lnSpc>
                <a:buNone/>
                <a:defRPr sz="24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zh-CN" sz="2400" b="1" dirty="0"/>
                <a:t>全域感知</a:t>
              </a:r>
              <a:br>
                <a:rPr lang="zh-CN" altLang="zh-CN" sz="2400" b="1" dirty="0"/>
              </a:br>
              <a:r>
                <a:rPr lang="zh-CN" altLang="zh-CN" sz="2400" b="1" dirty="0"/>
                <a:t>智能研判</a:t>
              </a:r>
              <a:br>
                <a:rPr lang="zh-CN" altLang="zh-CN" sz="2400" b="1" dirty="0"/>
              </a:br>
              <a:r>
                <a:rPr lang="zh-CN" altLang="zh-CN" sz="2400" b="1" dirty="0"/>
                <a:t>闭环处置</a:t>
              </a:r>
              <a:br>
                <a:rPr lang="zh-CN" altLang="zh-CN" sz="2400" b="1" dirty="0"/>
              </a:br>
              <a:r>
                <a:rPr lang="zh-CN" altLang="zh-CN" sz="2400" b="1" dirty="0"/>
                <a:t>台账沉淀</a:t>
              </a:r>
              <a:endParaRPr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3" name="矩形 12"/>
          <p:cNvSpPr>
            <a:spLocks noGrp="1"/>
          </p:cNvSpPr>
          <p:nvPr/>
        </p:nvSpPr>
        <p:spPr>
          <a:xfrm>
            <a:off x="723900" y="58674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BF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F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2026年6月</a:t>
            </a:r>
            <a:endParaRPr sz="1350" b="0">
              <a:solidFill>
                <a:srgbClr val="BF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cer搜索：半想象现实   http://chn.docer.com/works/?userid=199927538"/>
          <p:cNvSpPr txBox="1"/>
          <p:nvPr/>
        </p:nvSpPr>
        <p:spPr>
          <a:xfrm>
            <a:off x="648335" y="210820"/>
            <a:ext cx="1876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目录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cxnSp>
        <p:nvCxnSpPr>
          <p:cNvPr id="13" name="Docer搜索：半想象现实   http://chn.docer.com/works/?userid=199927538"/>
          <p:cNvCxnSpPr/>
          <p:nvPr>
            <p:custDataLst>
              <p:tags r:id="rId2"/>
            </p:custDataLst>
          </p:nvPr>
        </p:nvCxnSpPr>
        <p:spPr>
          <a:xfrm>
            <a:off x="3401383" y="2267065"/>
            <a:ext cx="0" cy="59333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ocer搜索：半想象现实   http://chn.docer.com/works/?userid=199927538"/>
          <p:cNvSpPr txBox="1"/>
          <p:nvPr>
            <p:custDataLst>
              <p:tags r:id="rId3"/>
            </p:custDataLst>
          </p:nvPr>
        </p:nvSpPr>
        <p:spPr>
          <a:xfrm>
            <a:off x="2524883" y="2277019"/>
            <a:ext cx="7461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01.</a:t>
            </a:r>
            <a:endParaRPr lang="en-US" altLang="zh-CN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cxnSp>
        <p:nvCxnSpPr>
          <p:cNvPr id="15" name="Docer搜索：半想象现实   http://chn.docer.com/works/?userid=199927538"/>
          <p:cNvCxnSpPr/>
          <p:nvPr>
            <p:custDataLst>
              <p:tags r:id="rId4"/>
            </p:custDataLst>
          </p:nvPr>
        </p:nvCxnSpPr>
        <p:spPr>
          <a:xfrm>
            <a:off x="3401383" y="3257665"/>
            <a:ext cx="0" cy="59333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ocer搜索：半想象现实   http://chn.docer.com/works/?userid=199927538"/>
          <p:cNvSpPr txBox="1"/>
          <p:nvPr>
            <p:custDataLst>
              <p:tags r:id="rId5"/>
            </p:custDataLst>
          </p:nvPr>
        </p:nvSpPr>
        <p:spPr>
          <a:xfrm>
            <a:off x="2524883" y="3267619"/>
            <a:ext cx="7461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02.</a:t>
            </a:r>
            <a:endParaRPr lang="en-US" altLang="zh-CN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cxnSp>
        <p:nvCxnSpPr>
          <p:cNvPr id="17" name="Docer搜索：半想象现实   http://chn.docer.com/works/?userid=199927538"/>
          <p:cNvCxnSpPr/>
          <p:nvPr>
            <p:custDataLst>
              <p:tags r:id="rId6"/>
            </p:custDataLst>
          </p:nvPr>
        </p:nvCxnSpPr>
        <p:spPr>
          <a:xfrm>
            <a:off x="3401383" y="4248265"/>
            <a:ext cx="0" cy="59333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Docer搜索：半想象现实   http://chn.docer.com/works/?userid=199927538"/>
          <p:cNvSpPr txBox="1"/>
          <p:nvPr>
            <p:custDataLst>
              <p:tags r:id="rId7"/>
            </p:custDataLst>
          </p:nvPr>
        </p:nvSpPr>
        <p:spPr>
          <a:xfrm>
            <a:off x="2524883" y="4258219"/>
            <a:ext cx="7461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03.</a:t>
            </a:r>
            <a:endParaRPr lang="en-US" altLang="zh-CN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cxnSp>
        <p:nvCxnSpPr>
          <p:cNvPr id="19" name="Docer搜索：半想象现实   http://chn.docer.com/works/?userid=199927538"/>
          <p:cNvCxnSpPr/>
          <p:nvPr>
            <p:custDataLst>
              <p:tags r:id="rId8"/>
            </p:custDataLst>
          </p:nvPr>
        </p:nvCxnSpPr>
        <p:spPr>
          <a:xfrm>
            <a:off x="3401383" y="5238865"/>
            <a:ext cx="0" cy="59333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Docer搜索：半想象现实   http://chn.docer.com/works/?userid=199927538"/>
          <p:cNvSpPr txBox="1"/>
          <p:nvPr>
            <p:custDataLst>
              <p:tags r:id="rId9"/>
            </p:custDataLst>
          </p:nvPr>
        </p:nvSpPr>
        <p:spPr>
          <a:xfrm>
            <a:off x="2524883" y="5248819"/>
            <a:ext cx="7461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04.</a:t>
            </a:r>
            <a:endParaRPr lang="en-US" altLang="zh-CN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sp>
        <p:nvSpPr>
          <p:cNvPr id="21" name="Docer搜索：半想象现实   http://chn.docer.com/works/?userid=199927538"/>
          <p:cNvSpPr txBox="1"/>
          <p:nvPr>
            <p:custDataLst>
              <p:tags r:id="rId10"/>
            </p:custDataLst>
          </p:nvPr>
        </p:nvSpPr>
        <p:spPr>
          <a:xfrm>
            <a:off x="3594735" y="2246630"/>
            <a:ext cx="3075940" cy="6089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+mn-lt"/>
              </a:rPr>
              <a:t>作品概述</a:t>
            </a:r>
            <a:endParaRPr lang="zh-CN" alt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  <a:sym typeface="+mn-lt"/>
            </a:endParaRPr>
          </a:p>
        </p:txBody>
      </p:sp>
      <p:sp>
        <p:nvSpPr>
          <p:cNvPr id="23" name="Docer搜索：半想象现实   http://chn.docer.com/works/?userid=199927538"/>
          <p:cNvSpPr txBox="1"/>
          <p:nvPr>
            <p:custDataLst>
              <p:tags r:id="rId11"/>
            </p:custDataLst>
          </p:nvPr>
        </p:nvSpPr>
        <p:spPr>
          <a:xfrm>
            <a:off x="3594735" y="4232275"/>
            <a:ext cx="3075940" cy="6089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+mn-lt"/>
              </a:rPr>
              <a:t>价值成效</a:t>
            </a:r>
            <a:endParaRPr lang="zh-CN" alt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  <a:sym typeface="+mn-lt"/>
            </a:endParaRPr>
          </a:p>
        </p:txBody>
      </p:sp>
      <p:sp>
        <p:nvSpPr>
          <p:cNvPr id="25" name="Docer搜索：半想象现实   http://chn.docer.com/works/?userid=199927538"/>
          <p:cNvSpPr txBox="1"/>
          <p:nvPr>
            <p:custDataLst>
              <p:tags r:id="rId12"/>
            </p:custDataLst>
          </p:nvPr>
        </p:nvSpPr>
        <p:spPr>
          <a:xfrm>
            <a:off x="3594735" y="3226435"/>
            <a:ext cx="3075940" cy="6089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+mn-lt"/>
              </a:rPr>
              <a:t>解决方案</a:t>
            </a:r>
            <a:endParaRPr lang="zh-CN" alt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  <a:sym typeface="+mn-lt"/>
            </a:endParaRPr>
          </a:p>
        </p:txBody>
      </p:sp>
      <p:sp>
        <p:nvSpPr>
          <p:cNvPr id="27" name="Docer搜索：半想象现实   http://chn.docer.com/works/?userid=199927538"/>
          <p:cNvSpPr txBox="1"/>
          <p:nvPr>
            <p:custDataLst>
              <p:tags r:id="rId13"/>
            </p:custDataLst>
          </p:nvPr>
        </p:nvSpPr>
        <p:spPr>
          <a:xfrm>
            <a:off x="3594735" y="5211445"/>
            <a:ext cx="3075940" cy="6089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+mn-lt"/>
              </a:rPr>
              <a:t>团队介绍</a:t>
            </a:r>
            <a:endParaRPr lang="zh-CN" alt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9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091633" y="2597158"/>
            <a:ext cx="6606755" cy="2532692"/>
            <a:chOff x="5209763" y="1917001"/>
            <a:chExt cx="6606755" cy="2532692"/>
          </a:xfrm>
        </p:grpSpPr>
        <p:sp>
          <p:nvSpPr>
            <p:cNvPr id="2" name="文本框 1"/>
            <p:cNvSpPr txBox="1"/>
            <p:nvPr/>
          </p:nvSpPr>
          <p:spPr>
            <a:xfrm>
              <a:off x="6591465" y="1917001"/>
              <a:ext cx="174030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1</a:t>
              </a:r>
              <a:endParaRPr lang="zh-CN" altLang="en-US" sz="115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8" name="文本框 7" descr="7b0a20202020227461726765744964223a202270726f636573734f6e6c696e65576f7264417274220a7d0a"/>
            <p:cNvSpPr txBox="1"/>
            <p:nvPr/>
          </p:nvSpPr>
          <p:spPr>
            <a:xfrm>
              <a:off x="5209763" y="2848025"/>
              <a:ext cx="1638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PART </a:t>
              </a:r>
              <a:endParaRPr lang="zh-CN" altLang="en-US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302053" y="3657213"/>
              <a:ext cx="6514465" cy="792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4000" b="1" dirty="0">
                  <a:solidFill>
                    <a:schemeClr val="bg2">
                      <a:lumMod val="90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作品概述</a:t>
              </a:r>
              <a:endParaRPr lang="zh-CN" altLang="en-US" sz="40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  <p:cxnSp>
          <p:nvCxnSpPr>
            <p:cNvPr id="5" name="直线连接符 4"/>
            <p:cNvCxnSpPr/>
            <p:nvPr/>
          </p:nvCxnSpPr>
          <p:spPr>
            <a:xfrm>
              <a:off x="5302053" y="3575212"/>
              <a:ext cx="5648262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cer搜索：半想象现实   http://chn.docer.com/works/?userid=199927538"/>
          <p:cNvSpPr txBox="1"/>
          <p:nvPr/>
        </p:nvSpPr>
        <p:spPr>
          <a:xfrm>
            <a:off x="648335" y="210820"/>
            <a:ext cx="1876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项目背景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0198" y="1237823"/>
            <a:ext cx="9507421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1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能源行业正进入“运检维一体化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AI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原生能力”重塑阶段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3835" y="2169576"/>
            <a:ext cx="6887541" cy="35978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lnSpc>
                <a:spcPct val="200000"/>
              </a:lnSpc>
              <a:defRPr sz="16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围绕业务链、角色链、数据链重塑，推进油气场站与阀室数字化转型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200000"/>
              </a:lnSpc>
              <a:defRPr sz="16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既有建设多停留在单点图像识别与电子巡检记录，缺少质量分析闭环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200000"/>
              </a:lnSpc>
              <a:defRPr sz="16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湖南公司以“方案先行、原型验证、分步落地”打造可复制管控范式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: 圆角 11"/>
          <p:cNvSpPr>
            <a:spLocks noGrp="1"/>
          </p:cNvSpPr>
          <p:nvPr/>
        </p:nvSpPr>
        <p:spPr>
          <a:xfrm>
            <a:off x="8398619" y="1995506"/>
            <a:ext cx="2476500" cy="1066800"/>
          </a:xfrm>
          <a:prstGeom prst="roundRect">
            <a:avLst>
              <a:gd name="adj" fmla="val 5357"/>
            </a:avLst>
          </a:prstGeom>
          <a:solidFill>
            <a:srgbClr val="F6FAFF"/>
          </a:solidFill>
          <a:ln w="9525">
            <a:solidFill>
              <a:srgbClr val="B9D7F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570069" y="2147906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三链</a:t>
            </a:r>
            <a:endParaRPr sz="2550" b="1">
              <a:solidFill>
                <a:srgbClr val="D726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70069" y="2624156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业务链 / 角色链 / 数据链</a:t>
            </a:r>
            <a:endParaRPr sz="135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: 圆角 14"/>
          <p:cNvSpPr>
            <a:spLocks noGrp="1"/>
          </p:cNvSpPr>
          <p:nvPr/>
        </p:nvSpPr>
        <p:spPr>
          <a:xfrm>
            <a:off x="8398619" y="3348056"/>
            <a:ext cx="2476500" cy="1066800"/>
          </a:xfrm>
          <a:prstGeom prst="roundRect">
            <a:avLst>
              <a:gd name="adj" fmla="val 5357"/>
            </a:avLst>
          </a:prstGeom>
          <a:solidFill>
            <a:srgbClr val="F6FAFF"/>
          </a:solidFill>
          <a:ln w="9525">
            <a:solidFill>
              <a:srgbClr val="B9D7F2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570069" y="3500456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双分析</a:t>
            </a:r>
            <a:endParaRPr sz="2550" b="1">
              <a:solidFill>
                <a:srgbClr val="D726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70069" y="3976706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设备研判 + 人员评价</a:t>
            </a:r>
            <a:endParaRPr sz="135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: 圆角 17"/>
          <p:cNvSpPr>
            <a:spLocks noGrp="1"/>
          </p:cNvSpPr>
          <p:nvPr/>
        </p:nvSpPr>
        <p:spPr>
          <a:xfrm>
            <a:off x="8369011" y="4700606"/>
            <a:ext cx="2476500" cy="1066800"/>
          </a:xfrm>
          <a:prstGeom prst="roundRect">
            <a:avLst>
              <a:gd name="adj" fmla="val 5357"/>
            </a:avLst>
          </a:prstGeom>
          <a:solidFill>
            <a:srgbClr val="F6FAFF"/>
          </a:solidFill>
          <a:ln w="9525">
            <a:solidFill>
              <a:srgbClr val="B9D7F2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70069" y="4853006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</a:t>
            </a:r>
            <a:endParaRPr sz="2550" b="1">
              <a:solidFill>
                <a:srgbClr val="D726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510853" y="5329256"/>
            <a:ext cx="225845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dirty="0" err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感知-分析-决策-流转-迭代</a:t>
            </a:r>
            <a:endParaRPr sz="1350" b="0" dirty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7700" y="215900"/>
            <a:ext cx="1879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项目背景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59278"/>
          <a:stretch>
            <a:fillRect/>
          </a:stretch>
        </p:blipFill>
        <p:spPr>
          <a:xfrm>
            <a:off x="11150600" y="0"/>
            <a:ext cx="10033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4" name="Connector 4"/>
          <p:cNvCxnSpPr/>
          <p:nvPr/>
        </p:nvCxnSpPr>
        <p:spPr>
          <a:xfrm rot="-7161">
            <a:off x="0" y="9017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0" y="330200"/>
            <a:ext cx="355600" cy="4064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19100" y="330200"/>
            <a:ext cx="127000" cy="406400"/>
          </a:xfrm>
          <a:prstGeom prst="roundRect">
            <a:avLst>
              <a:gd name="adj" fmla="val 0"/>
            </a:avLst>
          </a:prstGeom>
          <a:solidFill>
            <a:srgbClr val="7F7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00100" y="1295400"/>
            <a:ext cx="62865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现有巡检数字化存在四个</a:t>
            </a:r>
            <a:r>
              <a:rPr lang="en-US" sz="32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共性短板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65200" y="2895600"/>
            <a:ext cx="8763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52600" y="2933700"/>
            <a:ext cx="2857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只看瞬时告警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752600" y="3352800"/>
            <a:ext cx="39116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缺少长周期时序研判，隐性故障难提前识别，无法通过历史数据预判设备潜在风险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65200" y="4025900"/>
            <a:ext cx="4191000" cy="25400"/>
          </a:xfrm>
          <a:prstGeom prst="roundRect">
            <a:avLst>
              <a:gd name="adj" fmla="val 0"/>
            </a:avLst>
          </a:prstGeom>
          <a:solidFill>
            <a:srgbClr val="B9D7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99200" y="2895600"/>
            <a:ext cx="7874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086600" y="2933700"/>
            <a:ext cx="2857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考核依赖人工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086600" y="3352800"/>
            <a:ext cx="39116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轨迹、照片、文字需人工逐条核查，不仅标准难以统一，还消耗大量人力与时间成本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99200" y="4025900"/>
            <a:ext cx="4191000" cy="25400"/>
          </a:xfrm>
          <a:prstGeom prst="roundRect">
            <a:avLst>
              <a:gd name="adj" fmla="val 0"/>
            </a:avLst>
          </a:prstGeom>
          <a:solidFill>
            <a:srgbClr val="B9D7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65200" y="4419600"/>
            <a:ext cx="7874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752600" y="4457700"/>
            <a:ext cx="2857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人机数据割裂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752600" y="4876800"/>
            <a:ext cx="39116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设备自动巡检与人工现场巡检分属不同系统，数据不互通，导致复合型风险难以叠加识别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65200" y="5549900"/>
            <a:ext cx="4191000" cy="25400"/>
          </a:xfrm>
          <a:prstGeom prst="roundRect">
            <a:avLst>
              <a:gd name="adj" fmla="val 0"/>
            </a:avLst>
          </a:prstGeom>
          <a:solidFill>
            <a:srgbClr val="B9D7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99200" y="4419600"/>
            <a:ext cx="7874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086600" y="4457700"/>
            <a:ext cx="2857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价值挖掘不足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086600" y="4876800"/>
            <a:ext cx="39116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故障趋势分析、人员履职评估、设备维保建议等核心价值，仍依赖人工汇总，缺乏智能支撑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99200" y="5549900"/>
            <a:ext cx="4191000" cy="25400"/>
          </a:xfrm>
          <a:prstGeom prst="roundRect">
            <a:avLst>
              <a:gd name="adj" fmla="val 0"/>
            </a:avLst>
          </a:prstGeom>
          <a:solidFill>
            <a:srgbClr val="B9D7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cer搜索：半想象现实   http://chn.docer.com/works/?userid=199927538"/>
          <p:cNvSpPr txBox="1"/>
          <p:nvPr/>
        </p:nvSpPr>
        <p:spPr>
          <a:xfrm>
            <a:off x="648335" y="210820"/>
            <a:ext cx="1876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场景描述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80414" y="1333146"/>
            <a:ext cx="10840036" cy="569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defRPr sz="1050" b="1">
                <a:solidFill>
                  <a:srgbClr val="648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覆盖中心场站、阀室与全业务区域，统一贯通两类核心巡检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ClrTx/>
              <a:buSzTx/>
              <a:buFontTx/>
              <a:buNone/>
              <a:defRPr sz="1050" b="1">
                <a:solidFill>
                  <a:srgbClr val="648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: 圆角 8"/>
          <p:cNvSpPr>
            <a:spLocks noGrp="1"/>
          </p:cNvSpPr>
          <p:nvPr/>
        </p:nvSpPr>
        <p:spPr>
          <a:xfrm>
            <a:off x="723900" y="2133600"/>
            <a:ext cx="4857750" cy="1485900"/>
          </a:xfrm>
          <a:prstGeom prst="roundRect">
            <a:avLst>
              <a:gd name="adj" fmla="val 3846"/>
            </a:avLst>
          </a:prstGeom>
          <a:solidFill>
            <a:srgbClr val="F6FAFF"/>
          </a:solidFill>
          <a:ln w="9525">
            <a:solidFill>
              <a:srgbClr val="B9D7F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2133600"/>
            <a:ext cx="66675" cy="1485900"/>
          </a:xfrm>
          <a:prstGeom prst="rect">
            <a:avLst/>
          </a:prstGeom>
          <a:solidFill>
            <a:srgbClr val="1E88E5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33450" y="2305050"/>
            <a:ext cx="445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机器视觉自动巡检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33450" y="2705100"/>
            <a:ext cx="4457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机柜可视化改造、工业摄像部署、边缘推理与网闸安全摆渡，实现设备状态、仪表数值自动抓拍识别。</a:t>
            </a:r>
            <a:endParaRPr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: 圆角 36"/>
          <p:cNvSpPr>
            <a:spLocks noGrp="1"/>
          </p:cNvSpPr>
          <p:nvPr/>
        </p:nvSpPr>
        <p:spPr>
          <a:xfrm>
            <a:off x="723900" y="3924300"/>
            <a:ext cx="4857750" cy="1485900"/>
          </a:xfrm>
          <a:prstGeom prst="roundRect">
            <a:avLst>
              <a:gd name="adj" fmla="val 3846"/>
            </a:avLst>
          </a:prstGeom>
          <a:solidFill>
            <a:srgbClr val="F6FAFF"/>
          </a:solidFill>
          <a:ln w="9525">
            <a:solidFill>
              <a:srgbClr val="B9D7F2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23900" y="3924300"/>
            <a:ext cx="66675" cy="1485900"/>
          </a:xfrm>
          <a:prstGeom prst="rect">
            <a:avLst/>
          </a:prstGeom>
          <a:solidFill>
            <a:srgbClr val="2C9C69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33450" y="4095750"/>
            <a:ext cx="445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电子周期人工巡检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33450" y="4495800"/>
            <a:ext cx="4457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marL="0" algn="l">
              <a:lnSpc>
                <a:spcPct val="100000"/>
              </a:lnSpc>
              <a:buClrTx/>
              <a:buSzTx/>
              <a:buFontTx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ym typeface="微软雅黑" panose="020B0503020204020204" charset="-122"/>
              </a:rPr>
              <a:t>运维人员现场打卡、实景拍照、隐患线上填报，所有数据统一汇入IMS管理平台，形成闭环的人工巡检数字化管理体系。</a:t>
            </a:r>
            <a:endParaRPr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: 圆角 40"/>
          <p:cNvSpPr>
            <a:spLocks noGrp="1"/>
          </p:cNvSpPr>
          <p:nvPr/>
        </p:nvSpPr>
        <p:spPr>
          <a:xfrm>
            <a:off x="6477000" y="2339938"/>
            <a:ext cx="2247900" cy="1066800"/>
          </a:xfrm>
          <a:prstGeom prst="roundRect">
            <a:avLst>
              <a:gd name="adj" fmla="val 5357"/>
            </a:avLst>
          </a:prstGeom>
          <a:solidFill>
            <a:srgbClr val="F6FAFF"/>
          </a:solidFill>
          <a:ln w="9525">
            <a:solidFill>
              <a:srgbClr val="B9D7F2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648450" y="2492338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50+</a:t>
            </a:r>
            <a:endParaRPr sz="255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648450" y="2968588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50" b="1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通用机器视觉识别能力</a:t>
            </a:r>
            <a:endParaRPr lang="zh-CN" altLang="en-US" sz="1350" b="1" dirty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: 圆角 43"/>
          <p:cNvSpPr>
            <a:spLocks noGrp="1"/>
          </p:cNvSpPr>
          <p:nvPr/>
        </p:nvSpPr>
        <p:spPr>
          <a:xfrm>
            <a:off x="8972550" y="2339938"/>
            <a:ext cx="2247900" cy="1066800"/>
          </a:xfrm>
          <a:prstGeom prst="roundRect">
            <a:avLst>
              <a:gd name="adj" fmla="val 5357"/>
            </a:avLst>
          </a:prstGeom>
          <a:solidFill>
            <a:srgbClr val="F6FAFF"/>
          </a:solidFill>
          <a:ln w="9525">
            <a:solidFill>
              <a:srgbClr val="B9D7F2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144000" y="2492338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endParaRPr sz="255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066883" y="2968588"/>
            <a:ext cx="204362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50" b="1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场站</a:t>
            </a:r>
            <a:r>
              <a:rPr lang="en-US" altLang="zh-CN" sz="1350" b="1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350" b="1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阀室业务区域覆盖</a:t>
            </a:r>
            <a:endParaRPr lang="zh-CN" altLang="en-US" sz="1350" b="1" dirty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: 圆角 46"/>
          <p:cNvSpPr>
            <a:spLocks noGrp="1"/>
          </p:cNvSpPr>
          <p:nvPr/>
        </p:nvSpPr>
        <p:spPr>
          <a:xfrm>
            <a:off x="7715250" y="4092538"/>
            <a:ext cx="2247900" cy="1066800"/>
          </a:xfrm>
          <a:prstGeom prst="roundRect">
            <a:avLst>
              <a:gd name="adj" fmla="val 5357"/>
            </a:avLst>
          </a:prstGeom>
          <a:solidFill>
            <a:srgbClr val="F6FAFF"/>
          </a:solidFill>
          <a:ln w="9525">
            <a:solidFill>
              <a:srgbClr val="B9D7F2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7886700" y="4244938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一体化</a:t>
            </a:r>
            <a:endParaRPr sz="255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810959" y="4721188"/>
            <a:ext cx="208769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50" b="1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设备感知与人员履职协同</a:t>
            </a:r>
            <a:endParaRPr lang="zh-CN" altLang="en-US" sz="1350" b="1" dirty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7161">
            <a:off x="0" y="9144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0" y="330200"/>
            <a:ext cx="355600" cy="4064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19100" y="330200"/>
            <a:ext cx="127000" cy="406400"/>
          </a:xfrm>
          <a:prstGeom prst="roundRect">
            <a:avLst>
              <a:gd name="adj" fmla="val 0"/>
            </a:avLst>
          </a:prstGeom>
          <a:solidFill>
            <a:srgbClr val="7F7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47700" y="215900"/>
            <a:ext cx="762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场景痛点分析：报警处置与监控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r="59278"/>
          <a:stretch>
            <a:fillRect/>
          </a:stretch>
        </p:blipFill>
        <p:spPr>
          <a:xfrm>
            <a:off x="11150600" y="0"/>
            <a:ext cx="10033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t="464" b="464"/>
          <a:stretch>
            <a:fillRect/>
          </a:stretch>
        </p:blipFill>
        <p:spPr>
          <a:xfrm>
            <a:off x="889000" y="1397000"/>
            <a:ext cx="4826000" cy="431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889000" y="5842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图示：传统成品油管道储罐液位预警全流程，依赖人工读取PCS数据、监视实时画面并手动判断处置，环节繁琐且响应滞后。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90953">
            <a:off x="3683000" y="3930658"/>
            <a:ext cx="482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350000" y="1524000"/>
            <a:ext cx="5461000" cy="1397000"/>
          </a:xfrm>
          <a:prstGeom prst="roundRect">
            <a:avLst>
              <a:gd name="adj" fmla="val 0"/>
            </a:avLst>
          </a:prstGeom>
          <a:solidFill>
            <a:srgbClr val="FFF5F5">
              <a:alpha val="80000"/>
            </a:srgbClr>
          </a:solidFill>
          <a:ln w="12700" cap="flat" cmpd="sng">
            <a:solidFill>
              <a:srgbClr val="C0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0" y="1651000"/>
            <a:ext cx="508000" cy="508000"/>
          </a:xfrm>
          <a:prstGeom prst="roundRect">
            <a:avLst>
              <a:gd name="adj" fmla="val 0"/>
            </a:avLst>
          </a:prstGeom>
          <a:solidFill>
            <a:srgbClr val="C000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1651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39000" y="15875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瞬时告警局限：缺乏预判能力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系统仅能在异常发生后触发告警，无法结合历史数据趋势分析，对潜在的泄漏风险、液位异常波动等隐患无法提前预警，处于被动应对状态。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0" y="3175000"/>
            <a:ext cx="5461000" cy="1397000"/>
          </a:xfrm>
          <a:prstGeom prst="roundRect">
            <a:avLst>
              <a:gd name="adj" fmla="val 0"/>
            </a:avLst>
          </a:prstGeom>
          <a:solidFill>
            <a:srgbClr val="FFF5F5">
              <a:alpha val="80000"/>
            </a:srgbClr>
          </a:solidFill>
          <a:ln w="12700" cap="flat" cmpd="sng">
            <a:solidFill>
              <a:srgbClr val="C0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3302000"/>
            <a:ext cx="508000" cy="508000"/>
          </a:xfrm>
          <a:prstGeom prst="roundRect">
            <a:avLst>
              <a:gd name="adj" fmla="val 0"/>
            </a:avLst>
          </a:prstGeom>
          <a:solidFill>
            <a:srgbClr val="C000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3302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239000" y="32385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人工判断疲劳：易产生误判漏判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监控员需24小时不间断紧盯屏幕，高强度工作极易引发视觉与精神疲劳，导致对报警信号响应不及时，甚至出现数据读取错误、异常判断偏差等人为失误。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350000" y="4826000"/>
            <a:ext cx="5461000" cy="1397000"/>
          </a:xfrm>
          <a:prstGeom prst="roundRect">
            <a:avLst>
              <a:gd name="adj" fmla="val 0"/>
            </a:avLst>
          </a:prstGeom>
          <a:solidFill>
            <a:srgbClr val="FFF5F5">
              <a:alpha val="80000"/>
            </a:srgbClr>
          </a:solidFill>
          <a:ln w="12700" cap="flat" cmpd="sng">
            <a:solidFill>
              <a:srgbClr val="C0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4953000"/>
            <a:ext cx="508000" cy="508000"/>
          </a:xfrm>
          <a:prstGeom prst="roundRect">
            <a:avLst>
              <a:gd name="adj" fmla="val 0"/>
            </a:avLst>
          </a:prstGeom>
          <a:solidFill>
            <a:srgbClr val="C000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4953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239000" y="48895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信息孤岛效应：数据缺乏交叉校验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现场视觉就地读数与远传PCS工艺参数未打通，无法实现自动交叉验证，数据真实性与一致性缺乏技术保障，易掩盖设备故障或传输异常等问题。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7700" y="215900"/>
            <a:ext cx="762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场景痛点：生产数据复核与报表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59278"/>
          <a:stretch>
            <a:fillRect/>
          </a:stretch>
        </p:blipFill>
        <p:spPr>
          <a:xfrm>
            <a:off x="11150600" y="0"/>
            <a:ext cx="10033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4" name="Connector 4"/>
          <p:cNvCxnSpPr/>
          <p:nvPr/>
        </p:nvCxnSpPr>
        <p:spPr>
          <a:xfrm rot="-7161">
            <a:off x="0" y="9144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0" y="330200"/>
            <a:ext cx="355600" cy="4064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19100" y="330200"/>
            <a:ext cx="127000" cy="406400"/>
          </a:xfrm>
          <a:prstGeom prst="roundRect">
            <a:avLst>
              <a:gd name="adj" fmla="val 0"/>
            </a:avLst>
          </a:prstGeom>
          <a:solidFill>
            <a:srgbClr val="7F7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051300" y="990600"/>
            <a:ext cx="4140200" cy="368300"/>
          </a:xfrm>
          <a:prstGeom prst="roundRect">
            <a:avLst>
              <a:gd name="adj" fmla="val 0"/>
            </a:avLst>
          </a:prstGeom>
          <a:solidFill>
            <a:srgbClr val="70AD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01. 传统作业流程现状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46100" y="1587500"/>
            <a:ext cx="111125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12700" cap="flat" cmpd="sng">
            <a:solidFill>
              <a:srgbClr val="70AD47">
                <a:alpha val="60000"/>
              </a:srgbClr>
            </a:solidFill>
            <a:prstDash val="solid"/>
            <a:round/>
          </a:ln>
        </p:spPr>
        <p:txBody>
          <a:bodyPr vert="horz" wrap="square" lIns="190500" tIns="101600" rIns="190500" bIns="1016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监控员每日需登录PPS系统人工核对数据，在多个异构系统间反复切换，通过“复制-粘贴”的方式汇总零散数据，最终手动排版制作运行日报，过程繁琐且依赖人工经验。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t="13570" b="13570"/>
          <a:stretch>
            <a:fillRect/>
          </a:stretch>
        </p:blipFill>
        <p:spPr>
          <a:xfrm>
            <a:off x="546100" y="2794000"/>
            <a:ext cx="4572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5562600" y="2794000"/>
            <a:ext cx="6096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C000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689600" y="28575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C8C8"/>
                </a:solidFill>
                <a:latin typeface="Songti SC"/>
                <a:ea typeface="Songti SC"/>
                <a:cs typeface="Songti SC"/>
                <a:sym typeface="Songti SC"/>
              </a:rPr>
              <a:t>痛点一：重复性劳动，效率与质量双低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0F0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大量人工数据搬运工作机械重复，不仅占用监控员核心精力，还极易因视觉疲劳或操作失误导致数据错漏，影响报表准确性。</a:t>
            </a:r>
            <a:endParaRPr lang="en-US" sz="1300" b="0" i="0" u="none" strike="noStrike">
              <a:solidFill>
                <a:srgbClr val="F0F0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562600" y="3937000"/>
            <a:ext cx="6096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A5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689600" y="40005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DCB4"/>
                </a:solidFill>
                <a:latin typeface="Songti SC"/>
                <a:ea typeface="Songti SC"/>
                <a:cs typeface="Songti SC"/>
                <a:sym typeface="Songti SC"/>
              </a:rPr>
              <a:t>痛点二：数据价值沉睡，缺乏深度挖掘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0F0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数据汇总后仅作为静态档案留存，未建立历史数据关联，无法进行设备运行趋势分析，难以支撑预测性维护与精细化管理决策。</a:t>
            </a:r>
            <a:endParaRPr lang="en-US" sz="1300" b="0" i="0" u="none" strike="noStrike">
              <a:solidFill>
                <a:srgbClr val="F0F0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3928">
            <a:off x="546104" y="5200650"/>
            <a:ext cx="1111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0AD47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546100" y="5461000"/>
            <a:ext cx="3556000" cy="952500"/>
          </a:xfrm>
          <a:prstGeom prst="roundRect">
            <a:avLst>
              <a:gd name="adj" fmla="val 0"/>
            </a:avLst>
          </a:prstGeom>
          <a:solidFill>
            <a:srgbClr val="70AD47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73100" y="5524500"/>
            <a:ext cx="330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数智化替代人工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利用RPA机器人自动采集多系统数据，消除人工录入环节，实现报表自动化生成。</a:t>
            </a:r>
            <a:endParaRPr lang="en-US" sz="1200" b="0" i="0" u="none" strike="noStrike">
              <a:solidFill>
                <a:srgbClr val="E6E6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318000" y="5461000"/>
            <a:ext cx="3556000" cy="952500"/>
          </a:xfrm>
          <a:prstGeom prst="roundRect">
            <a:avLst>
              <a:gd name="adj" fmla="val 0"/>
            </a:avLst>
          </a:prstGeom>
          <a:solidFill>
            <a:srgbClr val="2F5597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445000" y="5524500"/>
            <a:ext cx="330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数据资产化沉淀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构建统一数据湖，整合历史运行数据，通过BI工具挖掘趋势价值，赋能生产优化。</a:t>
            </a:r>
            <a:endParaRPr lang="en-US" sz="1200" b="0" i="0" u="none" strike="noStrike">
              <a:solidFill>
                <a:srgbClr val="E6E6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064500" y="5461000"/>
            <a:ext cx="3556000" cy="952500"/>
          </a:xfrm>
          <a:prstGeom prst="roundRect">
            <a:avLst>
              <a:gd name="adj" fmla="val 0"/>
            </a:avLst>
          </a:prstGeom>
          <a:solidFill>
            <a:srgbClr val="C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191500" y="5524500"/>
            <a:ext cx="330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全流程闭环管理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从数据采集、校验到报表分发全链路自动化监控，确保数据准确性与时效性。</a:t>
            </a:r>
            <a:endParaRPr lang="en-US" sz="1200" b="0" i="0" u="none" strike="noStrike">
              <a:solidFill>
                <a:srgbClr val="E6E6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7700" y="215900"/>
            <a:ext cx="762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作业计划与执行监控痛点分析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59278"/>
          <a:stretch>
            <a:fillRect/>
          </a:stretch>
        </p:blipFill>
        <p:spPr>
          <a:xfrm>
            <a:off x="11150600" y="0"/>
            <a:ext cx="10033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4" name="Connector 4"/>
          <p:cNvCxnSpPr/>
          <p:nvPr/>
        </p:nvCxnSpPr>
        <p:spPr>
          <a:xfrm rot="-7161">
            <a:off x="0" y="9144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0" y="330200"/>
            <a:ext cx="355600" cy="4064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19100" y="330200"/>
            <a:ext cx="127000" cy="406400"/>
          </a:xfrm>
          <a:prstGeom prst="roundRect">
            <a:avLst>
              <a:gd name="adj" fmla="val 0"/>
            </a:avLst>
          </a:prstGeom>
          <a:solidFill>
            <a:srgbClr val="7F7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57200" y="1098550"/>
            <a:ext cx="457200" cy="1238250"/>
          </a:xfrm>
          <a:prstGeom prst="roundRect">
            <a:avLst>
              <a:gd name="adj" fmla="val 16666"/>
            </a:avLst>
          </a:pr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传统流程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200" y="2870200"/>
            <a:ext cx="457200" cy="1536700"/>
          </a:xfrm>
          <a:prstGeom prst="roundRect">
            <a:avLst>
              <a:gd name="adj" fmla="val 16666"/>
            </a:avLst>
          </a:pr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核心痛点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7200" y="5175250"/>
            <a:ext cx="457200" cy="1213485"/>
          </a:xfrm>
          <a:prstGeom prst="roundRect">
            <a:avLst>
              <a:gd name="adj" fmla="val 16666"/>
            </a:avLst>
          </a:pr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风险管控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49400" y="1333500"/>
            <a:ext cx="1371600" cy="6858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59595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PPS计划制定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797300" y="1333500"/>
            <a:ext cx="1371600" cy="6858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59595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线下确认许可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057900" y="1333500"/>
            <a:ext cx="1371600" cy="6858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59595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人工匹配监控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78800" y="1320800"/>
            <a:ext cx="1371600" cy="6858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59595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人工核查记录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401300" y="1320800"/>
            <a:ext cx="1371600" cy="6858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59595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问题闭环归档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rcRect l="25781" r="25781"/>
          <a:stretch>
            <a:fillRect/>
          </a:stretch>
        </p:blipFill>
        <p:spPr>
          <a:xfrm>
            <a:off x="1879600" y="3238500"/>
            <a:ext cx="698500" cy="69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rcRect l="25781" r="25781"/>
          <a:stretch>
            <a:fillRect/>
          </a:stretch>
        </p:blipFill>
        <p:spPr>
          <a:xfrm>
            <a:off x="3657600" y="3238500"/>
            <a:ext cx="698500" cy="69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rcRect l="25781" r="25781"/>
          <a:stretch>
            <a:fillRect/>
          </a:stretch>
        </p:blipFill>
        <p:spPr>
          <a:xfrm>
            <a:off x="5422900" y="3238500"/>
            <a:ext cx="698500" cy="69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rcRect l="25781" r="25781"/>
          <a:stretch>
            <a:fillRect/>
          </a:stretch>
        </p:blipFill>
        <p:spPr>
          <a:xfrm>
            <a:off x="7175500" y="3238500"/>
            <a:ext cx="698500" cy="69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rcRect l="25781" r="25781"/>
          <a:stretch>
            <a:fillRect/>
          </a:stretch>
        </p:blipFill>
        <p:spPr>
          <a:xfrm>
            <a:off x="9029700" y="3238500"/>
            <a:ext cx="698500" cy="69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47400" y="3238500"/>
            <a:ext cx="736600" cy="73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1778000" y="4038600"/>
            <a:ext cx="1143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计划员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517900" y="4038600"/>
            <a:ext cx="1143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审批人员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207000" y="4038600"/>
            <a:ext cx="1143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监控人员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086600" y="4038600"/>
            <a:ext cx="1143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管理人员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801100" y="4038600"/>
            <a:ext cx="1143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执行人员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0502900" y="4038600"/>
            <a:ext cx="1397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安全专责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743200" y="3251200"/>
            <a:ext cx="9144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08500" y="3225800"/>
            <a:ext cx="9144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350000" y="3225800"/>
            <a:ext cx="9144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077200" y="3225800"/>
            <a:ext cx="9144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880600" y="3251200"/>
            <a:ext cx="9144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124200" y="1524000"/>
            <a:ext cx="6096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308600" y="1524000"/>
            <a:ext cx="6096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467600" y="1524000"/>
            <a:ext cx="6096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664700" y="1524000"/>
            <a:ext cx="6096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5400000">
            <a:off x="2667000" y="4864100"/>
            <a:ext cx="9144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37" name="Connector 37"/>
          <p:cNvCxnSpPr/>
          <p:nvPr/>
        </p:nvCxnSpPr>
        <p:spPr>
          <a:xfrm rot="-80881">
            <a:off x="2578100" y="4559300"/>
            <a:ext cx="107957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08080">
                <a:alpha val="100000"/>
              </a:srgbClr>
            </a:solidFill>
            <a:prstDash val="sysDash"/>
            <a:miter lim="10000000"/>
            <a:headEnd type="none" w="med" len="med"/>
            <a:tailEnd type="none" w="med" len="med"/>
          </a:ln>
        </p:spPr>
      </p:cxnSp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5400000">
            <a:off x="4572000" y="4876800"/>
            <a:ext cx="9144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39" name="Connector 39"/>
          <p:cNvCxnSpPr/>
          <p:nvPr/>
        </p:nvCxnSpPr>
        <p:spPr>
          <a:xfrm rot="-80881">
            <a:off x="4483100" y="4572000"/>
            <a:ext cx="107957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08080">
                <a:alpha val="100000"/>
              </a:srgbClr>
            </a:solidFill>
            <a:prstDash val="sysDash"/>
            <a:miter lim="10000000"/>
            <a:headEnd type="none" w="med" len="med"/>
            <a:tailEnd type="none" w="med" len="med"/>
          </a:ln>
        </p:spPr>
      </p:cxnSp>
      <p:pic>
        <p:nvPicPr>
          <p:cNvPr id="40" name="Picture 4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5400000">
            <a:off x="6350000" y="4902200"/>
            <a:ext cx="9144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41" name="Connector 41"/>
          <p:cNvCxnSpPr/>
          <p:nvPr/>
        </p:nvCxnSpPr>
        <p:spPr>
          <a:xfrm rot="-121304">
            <a:off x="6260988" y="4591049"/>
            <a:ext cx="107979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08080">
                <a:alpha val="100000"/>
              </a:srgbClr>
            </a:solidFill>
            <a:prstDash val="sysDash"/>
            <a:miter lim="10000000"/>
            <a:headEnd type="none" w="med" len="med"/>
            <a:tailEnd type="none" w="med" len="med"/>
          </a:ln>
        </p:spPr>
      </p:cxnSp>
      <p:pic>
        <p:nvPicPr>
          <p:cNvPr id="42" name="Picture 4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5400000">
            <a:off x="8166100" y="4876800"/>
            <a:ext cx="9144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43" name="Connector 43"/>
          <p:cNvCxnSpPr/>
          <p:nvPr/>
        </p:nvCxnSpPr>
        <p:spPr>
          <a:xfrm rot="-121304">
            <a:off x="8077088" y="4565649"/>
            <a:ext cx="107979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08080">
                <a:alpha val="100000"/>
              </a:srgbClr>
            </a:solidFill>
            <a:prstDash val="sysDash"/>
            <a:miter lim="10000000"/>
            <a:headEnd type="none" w="med" len="med"/>
            <a:tailEnd type="none" w="med" len="med"/>
          </a:ln>
        </p:spPr>
      </p:cxnSp>
      <p:pic>
        <p:nvPicPr>
          <p:cNvPr id="44" name="Picture 4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5400000">
            <a:off x="9969500" y="4838700"/>
            <a:ext cx="9144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45" name="Connector 45"/>
          <p:cNvCxnSpPr/>
          <p:nvPr/>
        </p:nvCxnSpPr>
        <p:spPr>
          <a:xfrm rot="-80881">
            <a:off x="9880600" y="4533900"/>
            <a:ext cx="107957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08080">
                <a:alpha val="100000"/>
              </a:srgbClr>
            </a:solidFill>
            <a:prstDash val="sysDash"/>
            <a:miter lim="10000000"/>
            <a:headEnd type="none" w="med" len="med"/>
            <a:tailEnd type="none" w="med" len="med"/>
          </a:ln>
        </p:spPr>
      </p:cxnSp>
      <p:sp>
        <p:nvSpPr>
          <p:cNvPr id="46" name="AutoShape 46"/>
          <p:cNvSpPr/>
          <p:nvPr/>
        </p:nvSpPr>
        <p:spPr>
          <a:xfrm>
            <a:off x="2463800" y="5715000"/>
            <a:ext cx="1270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人工逐条核查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Songti SC"/>
                <a:ea typeface="Songti SC"/>
                <a:cs typeface="Songti SC"/>
                <a:sym typeface="Songti SC"/>
              </a:rPr>
              <a:t>耗时耗力效率低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47" name="AutoShape 47"/>
          <p:cNvSpPr/>
          <p:nvPr/>
        </p:nvSpPr>
        <p:spPr>
          <a:xfrm>
            <a:off x="4292600" y="5715000"/>
            <a:ext cx="145923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跨系统人工协同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Songti SC"/>
                <a:ea typeface="Songti SC"/>
                <a:cs typeface="Songti SC"/>
                <a:sym typeface="Songti SC"/>
              </a:rPr>
              <a:t>信息错配易遗漏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48" name="AutoShape 48"/>
          <p:cNvSpPr/>
          <p:nvPr/>
        </p:nvSpPr>
        <p:spPr>
          <a:xfrm>
            <a:off x="6184900" y="5676900"/>
            <a:ext cx="1270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设备人员失联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Songti SC"/>
                <a:ea typeface="Songti SC"/>
                <a:cs typeface="Songti SC"/>
                <a:sym typeface="Songti SC"/>
              </a:rPr>
              <a:t>隐患识别有盲区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49" name="AutoShape 49"/>
          <p:cNvSpPr/>
          <p:nvPr/>
        </p:nvSpPr>
        <p:spPr>
          <a:xfrm>
            <a:off x="8077200" y="5651500"/>
            <a:ext cx="1270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虚假取证难发现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Songti SC"/>
                <a:ea typeface="Songti SC"/>
                <a:cs typeface="Songti SC"/>
                <a:sym typeface="Songti SC"/>
              </a:rPr>
              <a:t>无法自动校验真实性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50" name="AutoShape 50"/>
          <p:cNvSpPr/>
          <p:nvPr/>
        </p:nvSpPr>
        <p:spPr>
          <a:xfrm>
            <a:off x="9944100" y="56896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风险管控被动滞后</a:t>
            </a:r>
            <a:endParaRPr lang="en-US" sz="1100"/>
          </a:p>
        </p:txBody>
      </p:sp>
      <p:pic>
        <p:nvPicPr>
          <p:cNvPr id="51" name="Picture 5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943100" y="5613400"/>
            <a:ext cx="5715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860800" y="5613400"/>
            <a:ext cx="5715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689600" y="5613400"/>
            <a:ext cx="5715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607300" y="5613400"/>
            <a:ext cx="5715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499600" y="5613400"/>
            <a:ext cx="5715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6" name="AutoShape 56"/>
          <p:cNvSpPr/>
          <p:nvPr/>
        </p:nvSpPr>
        <p:spPr>
          <a:xfrm>
            <a:off x="2603500" y="2895600"/>
            <a:ext cx="9779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计划源头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4394200" y="2794000"/>
            <a:ext cx="977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许可流程人工跑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6261100" y="2794000"/>
            <a:ext cx="977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监控资源难匹配</a:t>
            </a:r>
            <a:endParaRPr lang="en-US" sz="1100"/>
          </a:p>
        </p:txBody>
      </p:sp>
      <p:sp>
        <p:nvSpPr>
          <p:cNvPr id="59" name="AutoShape 59"/>
          <p:cNvSpPr/>
          <p:nvPr/>
        </p:nvSpPr>
        <p:spPr>
          <a:xfrm>
            <a:off x="8026400" y="2794000"/>
            <a:ext cx="977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记录核查无手段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9817100" y="2895600"/>
            <a:ext cx="9779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闭环无追溯</a:t>
            </a:r>
            <a:endParaRPr lang="en-US" sz="11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cer搜索：半想象现实   http://chn.docer.com/works/?userid=199927538"/>
          <p:cNvSpPr txBox="1"/>
          <p:nvPr/>
        </p:nvSpPr>
        <p:spPr>
          <a:xfrm>
            <a:off x="648335" y="210820"/>
            <a:ext cx="1876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创新优势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48335" y="1436860"/>
            <a:ext cx="10974636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defRPr sz="1050" b="1">
                <a:solidFill>
                  <a:srgbClr val="648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四项能力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“可执行、可决策、可复用、可进化”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矩形: 圆角 41"/>
          <p:cNvSpPr>
            <a:spLocks noGrp="1"/>
          </p:cNvSpPr>
          <p:nvPr/>
        </p:nvSpPr>
        <p:spPr>
          <a:xfrm>
            <a:off x="1217593" y="2676870"/>
            <a:ext cx="4762500" cy="1200150"/>
          </a:xfrm>
          <a:prstGeom prst="roundRect">
            <a:avLst>
              <a:gd name="adj" fmla="val 4762"/>
            </a:avLst>
          </a:prstGeom>
          <a:solidFill>
            <a:srgbClr val="F6FAFF"/>
          </a:solidFill>
          <a:ln w="9525">
            <a:solidFill>
              <a:srgbClr val="B9D7F2"/>
            </a:solidFill>
            <a:prstDash val="solid"/>
          </a:ln>
        </p:spPr>
      </p:sp>
      <p:sp>
        <p:nvSpPr>
          <p:cNvPr id="43" name="矩形: 圆角 42"/>
          <p:cNvSpPr>
            <a:spLocks noGrp="1"/>
          </p:cNvSpPr>
          <p:nvPr/>
        </p:nvSpPr>
        <p:spPr>
          <a:xfrm>
            <a:off x="1427143" y="2867370"/>
            <a:ext cx="990600" cy="361950"/>
          </a:xfrm>
          <a:prstGeom prst="roundRect">
            <a:avLst>
              <a:gd name="adj" fmla="val 15789"/>
            </a:avLst>
          </a:prstGeom>
          <a:solidFill>
            <a:srgbClr val="0F4C81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503343" y="293404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可执行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608243" y="286737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多源数据全域融合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446193" y="3286470"/>
            <a:ext cx="4171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dirty="0" err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统一接入</a:t>
            </a:r>
            <a:r>
              <a:rPr sz="1275" b="1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PI </a:t>
            </a:r>
            <a:r>
              <a:rPr sz="1275" b="1" dirty="0" err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时序库、机器视觉、IMS、WeAct，PoC</a:t>
            </a:r>
            <a:r>
              <a:rPr sz="1275" b="1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75" b="1" dirty="0" err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原型可独立演示</a:t>
            </a:r>
            <a:r>
              <a:rPr sz="1275" b="1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75" b="1" dirty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: 圆角 46"/>
          <p:cNvSpPr>
            <a:spLocks noGrp="1"/>
          </p:cNvSpPr>
          <p:nvPr/>
        </p:nvSpPr>
        <p:spPr>
          <a:xfrm>
            <a:off x="6551593" y="2676870"/>
            <a:ext cx="4762500" cy="1200150"/>
          </a:xfrm>
          <a:prstGeom prst="roundRect">
            <a:avLst>
              <a:gd name="adj" fmla="val 4762"/>
            </a:avLst>
          </a:prstGeom>
          <a:solidFill>
            <a:srgbClr val="F6FAFF"/>
          </a:solidFill>
          <a:ln w="9525">
            <a:solidFill>
              <a:srgbClr val="B9D7F2"/>
            </a:solidFill>
            <a:prstDash val="solid"/>
          </a:ln>
        </p:spPr>
      </p:sp>
      <p:sp>
        <p:nvSpPr>
          <p:cNvPr id="48" name="矩形: 圆角 47"/>
          <p:cNvSpPr>
            <a:spLocks noGrp="1"/>
          </p:cNvSpPr>
          <p:nvPr/>
        </p:nvSpPr>
        <p:spPr>
          <a:xfrm>
            <a:off x="6761143" y="2867370"/>
            <a:ext cx="990600" cy="361950"/>
          </a:xfrm>
          <a:prstGeom prst="roundRect">
            <a:avLst>
              <a:gd name="adj" fmla="val 15789"/>
            </a:avLst>
          </a:prstGeom>
          <a:solidFill>
            <a:srgbClr val="0F4C81"/>
          </a:solidFill>
          <a:ln w="0">
            <a:noFill/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837343" y="293404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可决策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7942243" y="286737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双层多模态联合推理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780193" y="3286470"/>
            <a:ext cx="4171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dirty="0" err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融合工业时序算法与私有化多模态大模型，输出健康等级、评分与风险预警</a:t>
            </a:r>
            <a:r>
              <a:rPr sz="1275" b="1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75" b="1" dirty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: 圆角 51"/>
          <p:cNvSpPr>
            <a:spLocks noGrp="1"/>
          </p:cNvSpPr>
          <p:nvPr/>
        </p:nvSpPr>
        <p:spPr>
          <a:xfrm>
            <a:off x="1217593" y="4258020"/>
            <a:ext cx="4762500" cy="1200150"/>
          </a:xfrm>
          <a:prstGeom prst="roundRect">
            <a:avLst>
              <a:gd name="adj" fmla="val 4762"/>
            </a:avLst>
          </a:prstGeom>
          <a:solidFill>
            <a:srgbClr val="F6FAFF"/>
          </a:solidFill>
          <a:ln w="9525">
            <a:solidFill>
              <a:srgbClr val="B9D7F2"/>
            </a:solidFill>
            <a:prstDash val="solid"/>
          </a:ln>
        </p:spPr>
      </p:sp>
      <p:sp>
        <p:nvSpPr>
          <p:cNvPr id="53" name="矩形: 圆角 52"/>
          <p:cNvSpPr>
            <a:spLocks noGrp="1"/>
          </p:cNvSpPr>
          <p:nvPr/>
        </p:nvSpPr>
        <p:spPr>
          <a:xfrm>
            <a:off x="1427143" y="4448520"/>
            <a:ext cx="990600" cy="361950"/>
          </a:xfrm>
          <a:prstGeom prst="roundRect">
            <a:avLst>
              <a:gd name="adj" fmla="val 15789"/>
            </a:avLst>
          </a:prstGeom>
          <a:solidFill>
            <a:srgbClr val="0F4C81"/>
          </a:solidFill>
          <a:ln w="0">
            <a:noFill/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503343" y="451519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可复用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2608243" y="444852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模块化轻量智能体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446193" y="4867620"/>
            <a:ext cx="4171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dirty="0" err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将能力拆分为</a:t>
            </a:r>
            <a:r>
              <a:rPr sz="1275" b="1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75" b="1" dirty="0" err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Skill、知识库、提示词、工作流与评测集，进入集团</a:t>
            </a:r>
            <a:r>
              <a:rPr sz="1275" b="1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sz="1275" b="1" dirty="0" err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能力池</a:t>
            </a:r>
            <a:r>
              <a:rPr sz="1275" b="1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75" b="1" dirty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: 圆角 56"/>
          <p:cNvSpPr>
            <a:spLocks noGrp="1"/>
          </p:cNvSpPr>
          <p:nvPr/>
        </p:nvSpPr>
        <p:spPr>
          <a:xfrm>
            <a:off x="6551593" y="4258020"/>
            <a:ext cx="4762500" cy="1200150"/>
          </a:xfrm>
          <a:prstGeom prst="roundRect">
            <a:avLst>
              <a:gd name="adj" fmla="val 4762"/>
            </a:avLst>
          </a:prstGeom>
          <a:solidFill>
            <a:srgbClr val="F6FAFF"/>
          </a:solidFill>
          <a:ln w="9525">
            <a:solidFill>
              <a:srgbClr val="B9D7F2"/>
            </a:solidFill>
            <a:prstDash val="solid"/>
          </a:ln>
        </p:spPr>
      </p:sp>
      <p:sp>
        <p:nvSpPr>
          <p:cNvPr id="58" name="矩形: 圆角 57"/>
          <p:cNvSpPr>
            <a:spLocks noGrp="1"/>
          </p:cNvSpPr>
          <p:nvPr/>
        </p:nvSpPr>
        <p:spPr>
          <a:xfrm>
            <a:off x="6761143" y="4448520"/>
            <a:ext cx="990600" cy="361950"/>
          </a:xfrm>
          <a:prstGeom prst="roundRect">
            <a:avLst>
              <a:gd name="adj" fmla="val 15789"/>
            </a:avLst>
          </a:prstGeom>
          <a:solidFill>
            <a:srgbClr val="0F4C81"/>
          </a:solidFill>
          <a:ln w="0">
            <a:noFill/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6837343" y="451519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可进化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7942243" y="444852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知识沉淀持续迭代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6780193" y="4867620"/>
            <a:ext cx="4171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dirty="0" err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按月迭代样本、模型与规则，持续降低误判漏报，沉淀可审计台账</a:t>
            </a:r>
            <a:r>
              <a:rPr sz="1275" b="1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75" b="1" dirty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091633" y="2597158"/>
            <a:ext cx="6606755" cy="2532692"/>
            <a:chOff x="5209763" y="1917001"/>
            <a:chExt cx="6606755" cy="2532692"/>
          </a:xfrm>
        </p:grpSpPr>
        <p:sp>
          <p:nvSpPr>
            <p:cNvPr id="2" name="文本框 1"/>
            <p:cNvSpPr txBox="1"/>
            <p:nvPr/>
          </p:nvSpPr>
          <p:spPr>
            <a:xfrm>
              <a:off x="6591465" y="1917001"/>
              <a:ext cx="1740309" cy="1861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2</a:t>
              </a:r>
              <a:endParaRPr lang="zh-CN" altLang="en-US" sz="115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8" name="文本框 7" descr="7b0a20202020227461726765744964223a202270726f636573734f6e6c696e65576f7264417274220a7d0a"/>
            <p:cNvSpPr txBox="1"/>
            <p:nvPr/>
          </p:nvSpPr>
          <p:spPr>
            <a:xfrm>
              <a:off x="5209763" y="2848025"/>
              <a:ext cx="1638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PART </a:t>
              </a:r>
              <a:endParaRPr lang="zh-CN" altLang="en-US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302053" y="3657213"/>
              <a:ext cx="6514465" cy="792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4000" b="1" dirty="0">
                  <a:solidFill>
                    <a:schemeClr val="bg2">
                      <a:lumMod val="90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解决方案</a:t>
              </a:r>
              <a:endParaRPr lang="zh-CN" altLang="en-US" sz="40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  <p:cxnSp>
          <p:nvCxnSpPr>
            <p:cNvPr id="5" name="直线连接符 4"/>
            <p:cNvCxnSpPr/>
            <p:nvPr/>
          </p:nvCxnSpPr>
          <p:spPr>
            <a:xfrm>
              <a:off x="5302053" y="3575212"/>
              <a:ext cx="5648262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53" name="Docer搜索：半想象现实   http://chn.docer.com/works/?userid=199927538"/>
          <p:cNvSpPr txBox="1"/>
          <p:nvPr/>
        </p:nvSpPr>
        <p:spPr>
          <a:xfrm>
            <a:off x="648335" y="210820"/>
            <a:ext cx="39382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数智员工构建思路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sp>
        <p:nvSpPr>
          <p:cNvPr id="57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285" y="1222375"/>
            <a:ext cx="10428605" cy="5229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Docer搜索：半想象现实   http://chn.docer.com/works/?userid=199927538"/>
          <p:cNvSpPr txBox="1"/>
          <p:nvPr/>
        </p:nvSpPr>
        <p:spPr>
          <a:xfrm>
            <a:off x="648335" y="210820"/>
            <a:ext cx="39382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数智员工构建思路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144" name="图片 143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145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6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7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8" name="圆角矩形 147"/>
          <p:cNvSpPr/>
          <p:nvPr/>
        </p:nvSpPr>
        <p:spPr>
          <a:xfrm>
            <a:off x="450850" y="1215390"/>
            <a:ext cx="461010" cy="89471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业务链</a:t>
            </a:r>
            <a:endParaRPr lang="zh-CN" altLang="en-US"/>
          </a:p>
        </p:txBody>
      </p:sp>
      <p:sp>
        <p:nvSpPr>
          <p:cNvPr id="149" name="圆角矩形 148"/>
          <p:cNvSpPr/>
          <p:nvPr/>
        </p:nvSpPr>
        <p:spPr>
          <a:xfrm>
            <a:off x="450850" y="2869565"/>
            <a:ext cx="461010" cy="154178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岗位角色</a:t>
            </a:r>
            <a:r>
              <a:rPr lang="zh-CN" altLang="en-US"/>
              <a:t>链</a:t>
            </a:r>
            <a:endParaRPr lang="zh-CN" altLang="en-US"/>
          </a:p>
        </p:txBody>
      </p:sp>
      <p:sp>
        <p:nvSpPr>
          <p:cNvPr id="150" name="圆角矩形 149"/>
          <p:cNvSpPr/>
          <p:nvPr/>
        </p:nvSpPr>
        <p:spPr>
          <a:xfrm>
            <a:off x="450850" y="5379085"/>
            <a:ext cx="461010" cy="89471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数据链</a:t>
            </a:r>
            <a:endParaRPr lang="zh-CN" altLang="en-US"/>
          </a:p>
        </p:txBody>
      </p:sp>
      <p:sp>
        <p:nvSpPr>
          <p:cNvPr id="151" name="圆角矩形 150"/>
          <p:cNvSpPr/>
          <p:nvPr/>
        </p:nvSpPr>
        <p:spPr>
          <a:xfrm>
            <a:off x="1546225" y="1336040"/>
            <a:ext cx="1368425" cy="68072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定时触发机制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52" name="圆角矩形 151"/>
          <p:cNvSpPr/>
          <p:nvPr/>
        </p:nvSpPr>
        <p:spPr>
          <a:xfrm>
            <a:off x="3803015" y="1336040"/>
            <a:ext cx="1368425" cy="68072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多元数据</a:t>
            </a:r>
            <a:r>
              <a:rPr lang="zh-CN" altLang="en-US" sz="1400">
                <a:solidFill>
                  <a:schemeClr val="tx1"/>
                </a:solidFill>
              </a:rPr>
              <a:t>自动采集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53" name="圆角矩形 152"/>
          <p:cNvSpPr/>
          <p:nvPr/>
        </p:nvSpPr>
        <p:spPr>
          <a:xfrm>
            <a:off x="6059805" y="1336040"/>
            <a:ext cx="1368425" cy="68072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数据融合</a:t>
            </a:r>
            <a:r>
              <a:rPr lang="zh-CN" altLang="en-US" sz="1400">
                <a:solidFill>
                  <a:schemeClr val="tx1"/>
                </a:solidFill>
              </a:rPr>
              <a:t>与校验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54" name="圆角矩形 153"/>
          <p:cNvSpPr/>
          <p:nvPr/>
        </p:nvSpPr>
        <p:spPr>
          <a:xfrm>
            <a:off x="8182610" y="1322070"/>
            <a:ext cx="1368425" cy="68072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模板填充与</a:t>
            </a:r>
            <a:r>
              <a:rPr lang="zh-CN" altLang="en-US" sz="1400">
                <a:solidFill>
                  <a:schemeClr val="tx1"/>
                </a:solidFill>
              </a:rPr>
              <a:t>生成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55" name="圆角矩形 154"/>
          <p:cNvSpPr/>
          <p:nvPr/>
        </p:nvSpPr>
        <p:spPr>
          <a:xfrm>
            <a:off x="10400030" y="1322070"/>
            <a:ext cx="1368425" cy="68072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推送</a:t>
            </a:r>
            <a:r>
              <a:rPr lang="zh-CN" altLang="en-US" sz="1400">
                <a:solidFill>
                  <a:schemeClr val="tx1"/>
                </a:solidFill>
              </a:rPr>
              <a:t>确认</a:t>
            </a:r>
            <a:endParaRPr lang="zh-CN" altLang="en-US" sz="1400">
              <a:solidFill>
                <a:schemeClr val="tx1"/>
              </a:solidFill>
            </a:endParaRPr>
          </a:p>
        </p:txBody>
      </p:sp>
      <p:pic>
        <p:nvPicPr>
          <p:cNvPr id="156" name="pic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82775" y="3235960"/>
            <a:ext cx="694690" cy="694690"/>
          </a:xfrm>
          <a:prstGeom prst="rect">
            <a:avLst/>
          </a:prstGeom>
        </p:spPr>
      </p:pic>
      <p:pic>
        <p:nvPicPr>
          <p:cNvPr id="157" name="pic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5695" y="3235960"/>
            <a:ext cx="694690" cy="694690"/>
          </a:xfrm>
          <a:prstGeom prst="rect">
            <a:avLst/>
          </a:prstGeom>
        </p:spPr>
      </p:pic>
      <p:pic>
        <p:nvPicPr>
          <p:cNvPr id="158" name="pic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28615" y="3235960"/>
            <a:ext cx="694690" cy="694690"/>
          </a:xfrm>
          <a:prstGeom prst="rect">
            <a:avLst/>
          </a:prstGeom>
        </p:spPr>
      </p:pic>
      <p:pic>
        <p:nvPicPr>
          <p:cNvPr id="159" name="pic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9785" y="3235960"/>
            <a:ext cx="694690" cy="694690"/>
          </a:xfrm>
          <a:prstGeom prst="rect">
            <a:avLst/>
          </a:prstGeom>
        </p:spPr>
      </p:pic>
      <p:pic>
        <p:nvPicPr>
          <p:cNvPr id="160" name="pic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23985" y="3235960"/>
            <a:ext cx="694690" cy="694690"/>
          </a:xfrm>
          <a:prstGeom prst="rect">
            <a:avLst/>
          </a:prstGeom>
        </p:spPr>
      </p:pic>
      <p:pic>
        <p:nvPicPr>
          <p:cNvPr id="161" name="pic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50575" y="3235960"/>
            <a:ext cx="739140" cy="739140"/>
          </a:xfrm>
          <a:prstGeom prst="rect">
            <a:avLst/>
          </a:prstGeom>
        </p:spPr>
      </p:pic>
      <p:sp>
        <p:nvSpPr>
          <p:cNvPr id="162" name="文本框 161"/>
          <p:cNvSpPr txBox="1"/>
          <p:nvPr/>
        </p:nvSpPr>
        <p:spPr>
          <a:xfrm>
            <a:off x="1772920" y="4043045"/>
            <a:ext cx="1141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数智员工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3515995" y="4043045"/>
            <a:ext cx="1141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数智员工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5205095" y="4043045"/>
            <a:ext cx="1141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数智员工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7091680" y="4043045"/>
            <a:ext cx="1141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数智员工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8800465" y="4043045"/>
            <a:ext cx="1141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数智员工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10508615" y="4043045"/>
            <a:ext cx="1396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值班工程师</a:t>
            </a:r>
            <a:endParaRPr lang="zh-CN" altLang="en-US" b="1">
              <a:solidFill>
                <a:schemeClr val="bg1"/>
              </a:solidFill>
            </a:endParaRPr>
          </a:p>
        </p:txBody>
      </p:sp>
      <p:pic>
        <p:nvPicPr>
          <p:cNvPr id="168" name="图片 167" descr="箭头-直角-向右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41295" y="3248025"/>
            <a:ext cx="914400" cy="282575"/>
          </a:xfrm>
          <a:prstGeom prst="rect">
            <a:avLst/>
          </a:prstGeom>
        </p:spPr>
      </p:pic>
      <p:pic>
        <p:nvPicPr>
          <p:cNvPr id="169" name="图片 168" descr="箭头-直角-向右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10405" y="3223895"/>
            <a:ext cx="914400" cy="282575"/>
          </a:xfrm>
          <a:prstGeom prst="rect">
            <a:avLst/>
          </a:prstGeom>
        </p:spPr>
      </p:pic>
      <p:pic>
        <p:nvPicPr>
          <p:cNvPr id="170" name="图片 169" descr="箭头-直角-向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46825" y="3223895"/>
            <a:ext cx="914400" cy="282575"/>
          </a:xfrm>
          <a:prstGeom prst="rect">
            <a:avLst/>
          </a:prstGeom>
        </p:spPr>
      </p:pic>
      <p:pic>
        <p:nvPicPr>
          <p:cNvPr id="171" name="图片 170" descr="箭头-直角-向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79740" y="3223895"/>
            <a:ext cx="914400" cy="282575"/>
          </a:xfrm>
          <a:prstGeom prst="rect">
            <a:avLst/>
          </a:prstGeom>
        </p:spPr>
      </p:pic>
      <p:pic>
        <p:nvPicPr>
          <p:cNvPr id="172" name="图片 171" descr="箭头-直角-向右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877425" y="3248025"/>
            <a:ext cx="914400" cy="282575"/>
          </a:xfrm>
          <a:prstGeom prst="rect">
            <a:avLst/>
          </a:prstGeom>
        </p:spPr>
      </p:pic>
      <p:pic>
        <p:nvPicPr>
          <p:cNvPr id="173" name="图片 172" descr="箭头-直角-向右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127375" y="1520825"/>
            <a:ext cx="611505" cy="282575"/>
          </a:xfrm>
          <a:prstGeom prst="rect">
            <a:avLst/>
          </a:prstGeom>
        </p:spPr>
      </p:pic>
      <p:pic>
        <p:nvPicPr>
          <p:cNvPr id="174" name="图片 173" descr="箭头-直角-向右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09870" y="1520825"/>
            <a:ext cx="611505" cy="282575"/>
          </a:xfrm>
          <a:prstGeom prst="rect">
            <a:avLst/>
          </a:prstGeom>
        </p:spPr>
      </p:pic>
      <p:pic>
        <p:nvPicPr>
          <p:cNvPr id="175" name="图片 174" descr="箭头-直角-向右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461250" y="1520825"/>
            <a:ext cx="611505" cy="282575"/>
          </a:xfrm>
          <a:prstGeom prst="rect">
            <a:avLst/>
          </a:prstGeom>
        </p:spPr>
      </p:pic>
      <p:pic>
        <p:nvPicPr>
          <p:cNvPr id="176" name="图片 175" descr="箭头-直角-向右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660890" y="1520825"/>
            <a:ext cx="611505" cy="282575"/>
          </a:xfrm>
          <a:prstGeom prst="rect">
            <a:avLst/>
          </a:prstGeom>
        </p:spPr>
      </p:pic>
      <p:pic>
        <p:nvPicPr>
          <p:cNvPr id="177" name="图片 176" descr="箭头-直角-向右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5400000">
            <a:off x="2666365" y="4861560"/>
            <a:ext cx="914400" cy="282575"/>
          </a:xfrm>
          <a:prstGeom prst="rect">
            <a:avLst/>
          </a:prstGeom>
        </p:spPr>
      </p:pic>
      <p:cxnSp>
        <p:nvCxnSpPr>
          <p:cNvPr id="178" name="直接连接符 177"/>
          <p:cNvCxnSpPr/>
          <p:nvPr/>
        </p:nvCxnSpPr>
        <p:spPr>
          <a:xfrm flipV="1">
            <a:off x="2573655" y="4552950"/>
            <a:ext cx="1082040" cy="14605"/>
          </a:xfrm>
          <a:prstGeom prst="line">
            <a:avLst/>
          </a:prstGeom>
          <a:solidFill>
            <a:schemeClr val="bg1"/>
          </a:solidFill>
          <a:ln w="2857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79" name="图片 178" descr="箭头-直角-向右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5400000">
            <a:off x="4572635" y="4883150"/>
            <a:ext cx="914400" cy="282575"/>
          </a:xfrm>
          <a:prstGeom prst="rect">
            <a:avLst/>
          </a:prstGeom>
        </p:spPr>
      </p:pic>
      <p:cxnSp>
        <p:nvCxnSpPr>
          <p:cNvPr id="180" name="直接连接符 179"/>
          <p:cNvCxnSpPr/>
          <p:nvPr/>
        </p:nvCxnSpPr>
        <p:spPr>
          <a:xfrm flipV="1">
            <a:off x="4479925" y="4574540"/>
            <a:ext cx="1082040" cy="14605"/>
          </a:xfrm>
          <a:prstGeom prst="line">
            <a:avLst/>
          </a:prstGeom>
          <a:solidFill>
            <a:schemeClr val="bg1"/>
          </a:solidFill>
          <a:ln w="2857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1" name="图片 180" descr="箭头-直角-向右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5400000">
            <a:off x="6355715" y="4897755"/>
            <a:ext cx="914400" cy="282575"/>
          </a:xfrm>
          <a:prstGeom prst="rect">
            <a:avLst/>
          </a:prstGeom>
        </p:spPr>
      </p:pic>
      <p:cxnSp>
        <p:nvCxnSpPr>
          <p:cNvPr id="182" name="直接连接符 181"/>
          <p:cNvCxnSpPr/>
          <p:nvPr/>
        </p:nvCxnSpPr>
        <p:spPr>
          <a:xfrm flipV="1">
            <a:off x="6263005" y="4589145"/>
            <a:ext cx="1082040" cy="14605"/>
          </a:xfrm>
          <a:prstGeom prst="line">
            <a:avLst/>
          </a:prstGeom>
          <a:solidFill>
            <a:schemeClr val="bg1"/>
          </a:solidFill>
          <a:ln w="2857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3" name="图片 182" descr="箭头-直角-向右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5400000">
            <a:off x="8165465" y="4873625"/>
            <a:ext cx="914400" cy="282575"/>
          </a:xfrm>
          <a:prstGeom prst="rect">
            <a:avLst/>
          </a:prstGeom>
        </p:spPr>
      </p:pic>
      <p:cxnSp>
        <p:nvCxnSpPr>
          <p:cNvPr id="184" name="直接连接符 183"/>
          <p:cNvCxnSpPr/>
          <p:nvPr/>
        </p:nvCxnSpPr>
        <p:spPr>
          <a:xfrm flipV="1">
            <a:off x="8072755" y="4565015"/>
            <a:ext cx="1082040" cy="14605"/>
          </a:xfrm>
          <a:prstGeom prst="line">
            <a:avLst/>
          </a:prstGeom>
          <a:solidFill>
            <a:schemeClr val="bg1"/>
          </a:solidFill>
          <a:ln w="2857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5" name="图片 184" descr="箭头-直角-向右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5400000">
            <a:off x="9970135" y="4841875"/>
            <a:ext cx="914400" cy="282575"/>
          </a:xfrm>
          <a:prstGeom prst="rect">
            <a:avLst/>
          </a:prstGeom>
        </p:spPr>
      </p:pic>
      <p:cxnSp>
        <p:nvCxnSpPr>
          <p:cNvPr id="186" name="直接连接符 185"/>
          <p:cNvCxnSpPr/>
          <p:nvPr/>
        </p:nvCxnSpPr>
        <p:spPr>
          <a:xfrm flipV="1">
            <a:off x="9877425" y="4533265"/>
            <a:ext cx="1082040" cy="14605"/>
          </a:xfrm>
          <a:prstGeom prst="line">
            <a:avLst/>
          </a:prstGeom>
          <a:solidFill>
            <a:schemeClr val="bg1"/>
          </a:solidFill>
          <a:ln w="2857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7" name="文本框 186"/>
          <p:cNvSpPr txBox="1"/>
          <p:nvPr/>
        </p:nvSpPr>
        <p:spPr>
          <a:xfrm>
            <a:off x="2466340" y="5713095"/>
            <a:ext cx="12725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IMS PPS</a:t>
            </a:r>
            <a:r>
              <a:rPr lang="zh-CN" altLang="en-US" sz="1400" b="1">
                <a:solidFill>
                  <a:schemeClr val="bg1"/>
                </a:solidFill>
              </a:rPr>
              <a:t>系统</a:t>
            </a:r>
            <a:endParaRPr lang="zh-CN" altLang="en-US" sz="1400" b="1">
              <a:solidFill>
                <a:schemeClr val="bg1"/>
              </a:solidFill>
            </a:endParaRPr>
          </a:p>
          <a:p>
            <a:pPr algn="ctr"/>
            <a:r>
              <a:rPr lang="zh-CN" altLang="en-US" sz="1400" b="1">
                <a:solidFill>
                  <a:schemeClr val="bg1"/>
                </a:solidFill>
              </a:rPr>
              <a:t>数据库</a:t>
            </a:r>
            <a:endParaRPr lang="zh-CN" altLang="en-US" sz="1400" b="1">
              <a:solidFill>
                <a:schemeClr val="bg1"/>
              </a:solidFill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4289425" y="5713095"/>
            <a:ext cx="12725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IMS PPS</a:t>
            </a:r>
            <a:r>
              <a:rPr lang="zh-CN" altLang="en-US" sz="1400" b="1">
                <a:solidFill>
                  <a:schemeClr val="bg1"/>
                </a:solidFill>
              </a:rPr>
              <a:t>系统</a:t>
            </a:r>
            <a:endParaRPr lang="zh-CN" altLang="en-US" sz="1400" b="1">
              <a:solidFill>
                <a:schemeClr val="bg1"/>
              </a:solidFill>
            </a:endParaRPr>
          </a:p>
          <a:p>
            <a:pPr algn="ctr"/>
            <a:r>
              <a:rPr lang="zh-CN" altLang="en-US" sz="1400" b="1">
                <a:solidFill>
                  <a:schemeClr val="bg1"/>
                </a:solidFill>
              </a:rPr>
              <a:t>数据库</a:t>
            </a:r>
            <a:endParaRPr lang="zh-CN" altLang="en-US" sz="1400" b="1">
              <a:solidFill>
                <a:schemeClr val="bg1"/>
              </a:solidFill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6188710" y="5680075"/>
            <a:ext cx="12725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chemeClr val="bg1"/>
                </a:solidFill>
              </a:rPr>
              <a:t>规则校验</a:t>
            </a:r>
            <a:endParaRPr lang="zh-CN" altLang="en-US" sz="1400" b="1">
              <a:solidFill>
                <a:schemeClr val="bg1"/>
              </a:solidFill>
            </a:endParaRPr>
          </a:p>
          <a:p>
            <a:pPr algn="ctr"/>
            <a:r>
              <a:rPr lang="zh-CN" altLang="en-US" sz="1400" b="1">
                <a:solidFill>
                  <a:schemeClr val="bg1"/>
                </a:solidFill>
              </a:rPr>
              <a:t>数据库</a:t>
            </a:r>
            <a:endParaRPr lang="zh-CN" altLang="en-US" sz="1400" b="1">
              <a:solidFill>
                <a:schemeClr val="bg1"/>
              </a:solidFill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8079740" y="5647055"/>
            <a:ext cx="12725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chemeClr val="bg1"/>
                </a:solidFill>
              </a:rPr>
              <a:t>生产日报模板、</a:t>
            </a:r>
            <a:r>
              <a:rPr lang="en-US" altLang="zh-CN" sz="1400" b="1">
                <a:solidFill>
                  <a:schemeClr val="bg1"/>
                </a:solidFill>
              </a:rPr>
              <a:t>IMS</a:t>
            </a:r>
            <a:r>
              <a:rPr lang="zh-CN" altLang="en-US" sz="1400" b="1">
                <a:solidFill>
                  <a:schemeClr val="bg1"/>
                </a:solidFill>
              </a:rPr>
              <a:t>、</a:t>
            </a:r>
            <a:r>
              <a:rPr lang="en-US" altLang="zh-CN" sz="1400" b="1">
                <a:solidFill>
                  <a:schemeClr val="bg1"/>
                </a:solidFill>
              </a:rPr>
              <a:t>PPS</a:t>
            </a:r>
            <a:r>
              <a:rPr lang="zh-CN" altLang="en-US" sz="1400" b="1">
                <a:solidFill>
                  <a:schemeClr val="bg1"/>
                </a:solidFill>
              </a:rPr>
              <a:t>数据库</a:t>
            </a:r>
            <a:endParaRPr lang="zh-CN" altLang="en-US" sz="1400" b="1">
              <a:solidFill>
                <a:schemeClr val="bg1"/>
              </a:solidFill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9942195" y="5685790"/>
            <a:ext cx="12725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chemeClr val="bg1"/>
                </a:solidFill>
              </a:rPr>
              <a:t>生产日报</a:t>
            </a:r>
            <a:endParaRPr lang="zh-CN" altLang="en-US" sz="1400" b="1">
              <a:solidFill>
                <a:schemeClr val="bg1"/>
              </a:solidFill>
            </a:endParaRPr>
          </a:p>
        </p:txBody>
      </p:sp>
      <p:pic>
        <p:nvPicPr>
          <p:cNvPr id="192" name="图片 191" descr="数据库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/>
          <a:stretch>
            <a:fillRect/>
          </a:stretch>
        </p:blipFill>
        <p:spPr>
          <a:xfrm>
            <a:off x="3958590" y="6440170"/>
            <a:ext cx="488950" cy="488950"/>
          </a:xfrm>
          <a:prstGeom prst="rect">
            <a:avLst/>
          </a:prstGeom>
        </p:spPr>
      </p:pic>
      <p:pic>
        <p:nvPicPr>
          <p:cNvPr id="193" name="pic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45640" y="5614035"/>
            <a:ext cx="569595" cy="659765"/>
          </a:xfrm>
          <a:prstGeom prst="rect">
            <a:avLst/>
          </a:prstGeom>
        </p:spPr>
      </p:pic>
      <p:pic>
        <p:nvPicPr>
          <p:cNvPr id="194" name="pic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61435" y="5614035"/>
            <a:ext cx="569595" cy="659765"/>
          </a:xfrm>
          <a:prstGeom prst="rect">
            <a:avLst/>
          </a:prstGeom>
        </p:spPr>
      </p:pic>
      <p:pic>
        <p:nvPicPr>
          <p:cNvPr id="195" name="pic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93410" y="5614035"/>
            <a:ext cx="569595" cy="659765"/>
          </a:xfrm>
          <a:prstGeom prst="rect">
            <a:avLst/>
          </a:prstGeom>
        </p:spPr>
      </p:pic>
      <p:pic>
        <p:nvPicPr>
          <p:cNvPr id="196" name="pic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13015" y="5614035"/>
            <a:ext cx="569595" cy="659765"/>
          </a:xfrm>
          <a:prstGeom prst="rect">
            <a:avLst/>
          </a:prstGeom>
        </p:spPr>
      </p:pic>
      <p:pic>
        <p:nvPicPr>
          <p:cNvPr id="197" name="pic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96425" y="5614035"/>
            <a:ext cx="569595" cy="659765"/>
          </a:xfrm>
          <a:prstGeom prst="rect">
            <a:avLst/>
          </a:prstGeom>
        </p:spPr>
      </p:pic>
      <p:sp>
        <p:nvSpPr>
          <p:cNvPr id="198" name="文本框 197"/>
          <p:cNvSpPr txBox="1"/>
          <p:nvPr/>
        </p:nvSpPr>
        <p:spPr>
          <a:xfrm>
            <a:off x="2607945" y="2900045"/>
            <a:ext cx="9728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bg1"/>
                </a:solidFill>
              </a:rPr>
              <a:t>定时触发</a:t>
            </a:r>
            <a:endParaRPr lang="zh-CN" altLang="en-US" sz="1400" b="1">
              <a:solidFill>
                <a:schemeClr val="bg1"/>
              </a:solidFill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4391025" y="2792095"/>
            <a:ext cx="972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bg1"/>
                </a:solidFill>
              </a:rPr>
              <a:t>统建系统信息采集</a:t>
            </a:r>
            <a:endParaRPr lang="zh-CN" altLang="en-US" sz="1400" b="1">
              <a:solidFill>
                <a:schemeClr val="bg1"/>
              </a:solidFill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6263005" y="2792095"/>
            <a:ext cx="972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bg1"/>
                </a:solidFill>
              </a:rPr>
              <a:t>数据对齐、融合</a:t>
            </a:r>
            <a:endParaRPr lang="zh-CN" altLang="en-US" sz="1400" b="1">
              <a:solidFill>
                <a:schemeClr val="bg1"/>
              </a:solidFill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8021320" y="2792095"/>
            <a:ext cx="972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bg1"/>
                </a:solidFill>
              </a:rPr>
              <a:t>模板填充、初筛预警</a:t>
            </a:r>
            <a:endParaRPr lang="zh-CN" altLang="en-US" sz="1400" b="1">
              <a:solidFill>
                <a:schemeClr val="bg1"/>
              </a:solidFill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9819005" y="2900045"/>
            <a:ext cx="9728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bg1"/>
                </a:solidFill>
              </a:rPr>
              <a:t>日报推送</a:t>
            </a:r>
            <a:endParaRPr lang="zh-CN" altLang="en-US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cer搜索：半想象现实   http://chn.docer.com/works/?userid=199927538"/>
          <p:cNvSpPr txBox="1"/>
          <p:nvPr/>
        </p:nvSpPr>
        <p:spPr>
          <a:xfrm>
            <a:off x="648335" y="210820"/>
            <a:ext cx="39382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数智员工构建思路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4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62" name="图片 61" descr="数据库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/>
          <a:stretch>
            <a:fillRect/>
          </a:stretch>
        </p:blipFill>
        <p:spPr>
          <a:xfrm>
            <a:off x="3958590" y="6440170"/>
            <a:ext cx="488950" cy="4889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050030" y="984250"/>
            <a:ext cx="4138295" cy="3714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</a:rPr>
              <a:t>应用层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050030" y="1635125"/>
            <a:ext cx="4138295" cy="3714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</a:rPr>
              <a:t>数字员工</a:t>
            </a:r>
            <a:r>
              <a:rPr lang="en-US" altLang="zh-CN" b="1">
                <a:solidFill>
                  <a:schemeClr val="bg1"/>
                </a:solidFill>
              </a:rPr>
              <a:t>                  </a:t>
            </a:r>
            <a:r>
              <a:rPr lang="zh-CN" altLang="en-US" b="1">
                <a:solidFill>
                  <a:schemeClr val="bg1"/>
                </a:solidFill>
              </a:rPr>
              <a:t>生产运维岗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64485" y="2330450"/>
            <a:ext cx="6510020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1"/>
                </a:solidFill>
              </a:rPr>
              <a:t>pipe claw · </a:t>
            </a:r>
            <a:r>
              <a:rPr lang="zh-CN" altLang="en-US" b="1">
                <a:solidFill>
                  <a:schemeClr val="bg1"/>
                </a:solidFill>
              </a:rPr>
              <a:t>工具调用</a:t>
            </a:r>
            <a:r>
              <a:rPr lang="en-US" altLang="zh-CN" b="1">
                <a:solidFill>
                  <a:schemeClr val="bg1"/>
                </a:solidFill>
              </a:rPr>
              <a:t> · </a:t>
            </a:r>
            <a:r>
              <a:rPr lang="zh-CN" altLang="en-US" b="1">
                <a:solidFill>
                  <a:schemeClr val="bg1"/>
                </a:solidFill>
              </a:rPr>
              <a:t>模型调用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2" name="上箭头 21"/>
          <p:cNvSpPr/>
          <p:nvPr/>
        </p:nvSpPr>
        <p:spPr>
          <a:xfrm>
            <a:off x="5752465" y="2117725"/>
            <a:ext cx="733425" cy="135890"/>
          </a:xfrm>
          <a:prstGeom prst="up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817110" y="2051685"/>
            <a:ext cx="4064000" cy="305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bg1"/>
                </a:solidFill>
              </a:rPr>
              <a:t>HTTP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51" name="上箭头 50"/>
          <p:cNvSpPr/>
          <p:nvPr/>
        </p:nvSpPr>
        <p:spPr>
          <a:xfrm>
            <a:off x="5752465" y="2827655"/>
            <a:ext cx="733425" cy="135890"/>
          </a:xfrm>
          <a:prstGeom prst="up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867910" y="2778760"/>
            <a:ext cx="4064000" cy="305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bg1"/>
                </a:solidFill>
              </a:rPr>
              <a:t>MCP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42925" y="3147060"/>
            <a:ext cx="11116945" cy="3321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</a:rPr>
              <a:t>中台服务层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64515" y="3709035"/>
            <a:ext cx="11104880" cy="47561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68325" y="4386580"/>
            <a:ext cx="11104880" cy="47561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68325" y="3702685"/>
            <a:ext cx="1393190" cy="305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bg1"/>
                </a:solidFill>
              </a:rPr>
              <a:t>专业能力层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74675" y="4394835"/>
            <a:ext cx="1393190" cy="305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bg1"/>
                </a:solidFill>
              </a:rPr>
              <a:t>原子能力层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2393950" y="3788410"/>
            <a:ext cx="1536065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</a:rPr>
              <a:t>文件审阅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159250" y="3788410"/>
            <a:ext cx="1536065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</a:rPr>
              <a:t>审批分发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5924550" y="3788410"/>
            <a:ext cx="1536065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</a:rPr>
              <a:t>风险预警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7689850" y="3793490"/>
            <a:ext cx="1536065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</a:rPr>
              <a:t>智能报告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9455150" y="3787140"/>
            <a:ext cx="1536065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1"/>
                </a:solidFill>
              </a:rPr>
              <a:t>....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2393950" y="4476750"/>
            <a:ext cx="1536065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</a:rPr>
              <a:t>文件识别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4159250" y="4476750"/>
            <a:ext cx="1536065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</a:rPr>
              <a:t>审批规划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5924550" y="4476750"/>
            <a:ext cx="1536065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</a:rPr>
              <a:t>风险校验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7689850" y="4479925"/>
            <a:ext cx="1536065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</a:rPr>
              <a:t>日指定推送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9455150" y="4475480"/>
            <a:ext cx="1536065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1"/>
                </a:solidFill>
              </a:rPr>
              <a:t>....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542925" y="5163820"/>
            <a:ext cx="11116945" cy="3321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</a:rPr>
              <a:t>模型算法层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542925" y="6021705"/>
            <a:ext cx="11116945" cy="3321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</a:rPr>
              <a:t>数据层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771525" y="5643245"/>
            <a:ext cx="2418715" cy="2489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1"/>
                </a:solidFill>
              </a:rPr>
              <a:t>DeepSeek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817110" y="5643245"/>
            <a:ext cx="2418715" cy="2489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</a:rPr>
              <a:t>管网大模型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9013825" y="5642610"/>
            <a:ext cx="2418715" cy="2489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1"/>
                </a:solidFill>
              </a:rPr>
              <a:t>Qwen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771525" y="6501130"/>
            <a:ext cx="2418715" cy="2489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站控系统实时</a:t>
            </a:r>
            <a:r>
              <a:rPr lang="zh-CN" altLang="en-US"/>
              <a:t>数据</a:t>
            </a:r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>
            <a:off x="3505835" y="6501130"/>
            <a:ext cx="2418715" cy="2489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管道</a:t>
            </a:r>
            <a:r>
              <a:rPr lang="zh-CN" altLang="en-US"/>
              <a:t>工艺数据</a:t>
            </a:r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6240145" y="6501130"/>
            <a:ext cx="1664335" cy="2489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作业</a:t>
            </a:r>
            <a:r>
              <a:rPr lang="zh-CN" altLang="en-US"/>
              <a:t>工单</a:t>
            </a:r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8220075" y="6501130"/>
            <a:ext cx="1488440" cy="2489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生产</a:t>
            </a:r>
            <a:r>
              <a:rPr lang="zh-CN" altLang="en-US"/>
              <a:t>日报</a:t>
            </a:r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9944100" y="6501130"/>
            <a:ext cx="1488440" cy="2489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......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cer搜索：半想象现实   http://chn.docer.com/works/?userid=199927538"/>
          <p:cNvSpPr txBox="1"/>
          <p:nvPr/>
        </p:nvSpPr>
        <p:spPr>
          <a:xfrm>
            <a:off x="648335" y="210820"/>
            <a:ext cx="22885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AI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架构设计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81" y="1034536"/>
            <a:ext cx="9037427" cy="4267200"/>
          </a:xfrm>
          <a:prstGeom prst="rect">
            <a:avLst/>
          </a:prstGeom>
          <a:effectLst>
            <a:reflection blurRad="6350" stA="44000" endPos="17000" dir="5400000" sy="-100000" algn="bl" rotWithShape="0"/>
          </a:effectLst>
        </p:spPr>
      </p:pic>
      <p:sp>
        <p:nvSpPr>
          <p:cNvPr id="9" name="文本框 8"/>
          <p:cNvSpPr txBox="1"/>
          <p:nvPr/>
        </p:nvSpPr>
        <p:spPr>
          <a:xfrm>
            <a:off x="78105" y="5739130"/>
            <a:ext cx="1221295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>
                <a:solidFill>
                  <a:srgbClr val="FFFFFF"/>
                </a:solidFill>
                <a:sym typeface="微软雅黑" panose="020B0503020204020204" charset="-122"/>
              </a:rPr>
              <a:t>五层架构自下而上协同：PIPENET知识图谱底座夯实数据根基，AI核心引擎驱动智能决策，业务自动流转实现流程闭环，交互呈现打造友好体验，最终通过用户应用层赋能实际业务场景。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cer搜索：半想象现实   http://chn.docer.com/works/?userid=199927538"/>
          <p:cNvSpPr txBox="1"/>
          <p:nvPr/>
        </p:nvSpPr>
        <p:spPr>
          <a:xfrm>
            <a:off x="648335" y="210820"/>
            <a:ext cx="26701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+mn-ea"/>
              </a:rPr>
              <a:t>AI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+mn-ea"/>
              </a:rPr>
              <a:t>架构设计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38" y="1990008"/>
            <a:ext cx="6665205" cy="3749178"/>
          </a:xfrm>
          <a:prstGeom prst="rect">
            <a:avLst/>
          </a:prstGeom>
          <a:effectLst>
            <a:reflection blurRad="6350" stA="44000" endPos="17000" dir="5400000" sy="-100000" algn="bl" rotWithShape="0"/>
          </a:effectLst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128930" y="1118814"/>
            <a:ext cx="7352433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8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核心架构打通三条链路，实现智能体自动流转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006728" y="2223832"/>
            <a:ext cx="5365215" cy="35153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lnSpc>
                <a:spcPct val="200000"/>
              </a:lnSpc>
              <a:defRPr sz="15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业务链：生产运行、设施维检修、制程支撑联动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200000"/>
              </a:lnSpc>
              <a:defRPr sz="15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角色链：本部、中台、作业区责任穿透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200000"/>
              </a:lnSpc>
              <a:defRPr sz="15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数据链：数智底座承接业务数据回流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200000"/>
              </a:lnSpc>
              <a:defRPr sz="15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自动化、智能化、人性化三段能力逐级落地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7700" y="215900"/>
            <a:ext cx="1879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方案功能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59278"/>
          <a:stretch>
            <a:fillRect/>
          </a:stretch>
        </p:blipFill>
        <p:spPr>
          <a:xfrm>
            <a:off x="11150600" y="0"/>
            <a:ext cx="10033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4" name="Connector 4"/>
          <p:cNvCxnSpPr/>
          <p:nvPr/>
        </p:nvCxnSpPr>
        <p:spPr>
          <a:xfrm rot="-7161">
            <a:off x="0" y="9144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0" y="330200"/>
            <a:ext cx="355600" cy="4064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19100" y="330200"/>
            <a:ext cx="127000" cy="406400"/>
          </a:xfrm>
          <a:prstGeom prst="roundRect">
            <a:avLst>
              <a:gd name="adj" fmla="val 0"/>
            </a:avLst>
          </a:prstGeom>
          <a:solidFill>
            <a:srgbClr val="7F7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57300" y="1282700"/>
            <a:ext cx="10007600" cy="749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以“双引擎”补齐设备深度分析与巡检质量管控两大能力缺口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209800"/>
            <a:ext cx="4953000" cy="1435100"/>
          </a:xfrm>
          <a:prstGeom prst="roundRect">
            <a:avLst>
              <a:gd name="adj" fmla="val 4424"/>
            </a:avLst>
          </a:prstGeom>
          <a:solidFill>
            <a:srgbClr val="F6FAFF">
              <a:alpha val="100000"/>
            </a:srgbClr>
          </a:solidFill>
          <a:ln w="12700" cap="flat" cmpd="sng">
            <a:solidFill>
              <a:srgbClr val="B9D7F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2209800"/>
            <a:ext cx="63500" cy="14351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77900" y="2387600"/>
            <a:ext cx="45593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设备端：从告警到研判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77900" y="2781300"/>
            <a:ext cx="4559300" cy="749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识别设备长期参数变化，划分健康等级，输出维保建议，推动预测性维护，实现从被动响应告警到主动研判故障的转变。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209800"/>
            <a:ext cx="4953000" cy="1435100"/>
          </a:xfrm>
          <a:prstGeom prst="roundRect">
            <a:avLst>
              <a:gd name="adj" fmla="val 4424"/>
            </a:avLst>
          </a:prstGeom>
          <a:solidFill>
            <a:srgbClr val="F6FAFF">
              <a:alpha val="100000"/>
            </a:srgbClr>
          </a:solidFill>
          <a:ln w="12700" cap="flat" cmpd="sng">
            <a:solidFill>
              <a:srgbClr val="B9D7F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2209800"/>
            <a:ext cx="63500" cy="1435100"/>
          </a:xfrm>
          <a:prstGeom prst="roundRect">
            <a:avLst>
              <a:gd name="adj" fmla="val 0"/>
            </a:avLst>
          </a:prstGeom>
          <a:solidFill>
            <a:srgbClr val="2C9C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692900" y="2387600"/>
            <a:ext cx="45593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人员端：从记录到质控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92900" y="2781300"/>
            <a:ext cx="4559300" cy="749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自动识别巡检过程中的漏巡、虚假取证、填报不规范等问题，量化形成巡检得分与履职台账，实现人员作业的全流程质量管控。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4953000" cy="1435100"/>
          </a:xfrm>
          <a:prstGeom prst="roundRect">
            <a:avLst>
              <a:gd name="adj" fmla="val 4424"/>
            </a:avLst>
          </a:prstGeom>
          <a:solidFill>
            <a:srgbClr val="F6FAFF">
              <a:alpha val="100000"/>
            </a:srgbClr>
          </a:solidFill>
          <a:ln w="12700" cap="flat" cmpd="sng">
            <a:solidFill>
              <a:srgbClr val="B9D7F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064000"/>
            <a:ext cx="63500" cy="1435100"/>
          </a:xfrm>
          <a:prstGeom prst="roundRect">
            <a:avLst>
              <a:gd name="adj" fmla="val 0"/>
            </a:avLst>
          </a:prstGeom>
          <a:solidFill>
            <a:srgbClr val="D726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77900" y="4229100"/>
            <a:ext cx="45593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复合风险：从单点到叠加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77900" y="4635500"/>
            <a:ext cx="4559300" cy="749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智能关联分析“设备持续异常 + 人员多次漏检”的叠加场景，自动升级预警等级并触发闭环处置，有效规避复合型安全隐患。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064000"/>
            <a:ext cx="4953000" cy="1435100"/>
          </a:xfrm>
          <a:prstGeom prst="roundRect">
            <a:avLst>
              <a:gd name="adj" fmla="val 4424"/>
            </a:avLst>
          </a:prstGeom>
          <a:solidFill>
            <a:srgbClr val="F6FAFF">
              <a:alpha val="100000"/>
            </a:srgbClr>
          </a:solidFill>
          <a:ln w="12700" cap="flat" cmpd="sng">
            <a:solidFill>
              <a:srgbClr val="B9D7F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4064000"/>
            <a:ext cx="63500" cy="1435100"/>
          </a:xfrm>
          <a:prstGeom prst="roundRect">
            <a:avLst>
              <a:gd name="adj" fmla="val 0"/>
            </a:avLst>
          </a:prstGeom>
          <a:solidFill>
            <a:srgbClr val="F2B8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692900" y="4229100"/>
            <a:ext cx="45593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报表端：从汇总到审计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92900" y="4635500"/>
            <a:ext cx="4559300" cy="749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自动生成多维度质量报表、设备运行趋势台账及人员履职分析报告，以可视化数据支撑管理层的科学决策与效能优化。</a:t>
            </a:r>
            <a:endParaRPr lang="en-US" sz="11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cer搜索：半想象现实   http://chn.docer.com/works/?userid=199927538"/>
          <p:cNvSpPr txBox="1"/>
          <p:nvPr/>
        </p:nvSpPr>
        <p:spPr>
          <a:xfrm>
            <a:off x="648335" y="210820"/>
            <a:ext cx="1876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方案功能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011135" y="1206500"/>
            <a:ext cx="8169729" cy="45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1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“自然语言对话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交互式页面”降低一线使用门槛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: 圆角 3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61328" y="1791335"/>
            <a:ext cx="3925196" cy="2383155"/>
          </a:xfrm>
          <a:prstGeom prst="roundRect">
            <a:avLst>
              <a:gd name="adj" fmla="val 1961"/>
            </a:avLst>
          </a:prstGeom>
          <a:solidFill>
            <a:srgbClr val="F6FAFF"/>
          </a:solidFill>
          <a:ln w="9525">
            <a:solidFill>
              <a:srgbClr val="B9D7F2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078542" y="2024978"/>
            <a:ext cx="2397981" cy="2492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875" b="1">
                <a:solidFill>
                  <a:srgbClr val="0F4C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 dirty="0">
                <a:solidFill>
                  <a:srgbClr val="0F4C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一线运维人员</a:t>
            </a:r>
            <a:endParaRPr lang="zh-CN" altLang="en-US" sz="2800" b="1" dirty="0">
              <a:solidFill>
                <a:srgbClr val="0F4C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109694" y="2507839"/>
            <a:ext cx="2803712" cy="10747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lnSpc>
                <a:spcPct val="150000"/>
              </a:lnSpc>
              <a:defRPr sz="16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用对话查询巡检报表</a:t>
            </a:r>
            <a:endParaRPr lang="zh-CN" altLang="en-US" dirty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defRPr sz="16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查看设备健康状态</a:t>
            </a:r>
            <a:endParaRPr lang="zh-CN" altLang="en-US" dirty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defRPr sz="16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接收风险隐患提示</a:t>
            </a:r>
            <a:endParaRPr lang="zh-CN" altLang="en-US" dirty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defRPr sz="16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获取智能维保建议</a:t>
            </a:r>
            <a:endParaRPr lang="zh-CN" altLang="en-US" dirty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: 圆角 3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974691" y="1791335"/>
            <a:ext cx="3925196" cy="2383155"/>
          </a:xfrm>
          <a:prstGeom prst="roundRect">
            <a:avLst>
              <a:gd name="adj" fmla="val 1961"/>
            </a:avLst>
          </a:prstGeom>
          <a:solidFill>
            <a:srgbClr val="FFF7F8"/>
          </a:solidFill>
          <a:ln w="9525">
            <a:solidFill>
              <a:srgbClr val="F5B6C0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570470" y="2025015"/>
            <a:ext cx="2521585" cy="248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875" b="1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400" b="1" dirty="0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r>
              <a:rPr lang="en-US" altLang="zh-CN" sz="2400" b="1" dirty="0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400" b="1" dirty="0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督查人员</a:t>
            </a:r>
            <a:endParaRPr lang="zh-CN" altLang="en-US" sz="2400" b="1" dirty="0">
              <a:solidFill>
                <a:srgbClr val="D726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601772" y="2507839"/>
            <a:ext cx="2803712" cy="10747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lnSpc>
                <a:spcPct val="150000"/>
              </a:lnSpc>
              <a:defRPr sz="16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650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650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查看人员履职台账</a:t>
            </a:r>
            <a:endParaRPr lang="zh-CN" altLang="en-US" sz="1650" dirty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defRPr sz="16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650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650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追溯隐患整改闭环</a:t>
            </a:r>
            <a:endParaRPr lang="zh-CN" altLang="en-US" sz="1650" dirty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defRPr sz="16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650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650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导出自动化审计报表</a:t>
            </a:r>
            <a:endParaRPr lang="zh-CN" altLang="en-US" sz="1650" dirty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defRPr sz="16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650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650" dirty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支撑资源优化调配</a:t>
            </a:r>
            <a:endParaRPr lang="zh-CN" altLang="en-US" sz="1650" dirty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408430" y="6082664"/>
            <a:ext cx="9867900" cy="4107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025" b="1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目标：系统自动驱动、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辅助支撑、用户友好页面设计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1440" y="4393565"/>
            <a:ext cx="9538335" cy="1543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cer搜索：半想象现实   http://chn.docer.com/works/?userid=199927538"/>
          <p:cNvSpPr txBox="1"/>
          <p:nvPr/>
        </p:nvSpPr>
        <p:spPr>
          <a:xfrm>
            <a:off x="648335" y="210820"/>
            <a:ext cx="41840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技术创新点一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52553" y="1052195"/>
            <a:ext cx="11647503" cy="5759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从被动告警到主动研判→从人工核查到智能质控→从单点试用到全域复用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9" y="2337873"/>
            <a:ext cx="6277006" cy="2963812"/>
          </a:xfrm>
          <a:prstGeom prst="rect">
            <a:avLst/>
          </a:prstGeom>
          <a:effectLst>
            <a:reflection blurRad="6350" stA="44000" endPos="17000" dir="5400000" sy="-100000" algn="bl" rotWithShape="0"/>
          </a:effectLst>
        </p:spPr>
      </p:pic>
      <p:sp>
        <p:nvSpPr>
          <p:cNvPr id="39" name="矩形 38"/>
          <p:cNvSpPr>
            <a:spLocks noGrp="1"/>
          </p:cNvSpPr>
          <p:nvPr/>
        </p:nvSpPr>
        <p:spPr>
          <a:xfrm>
            <a:off x="377072" y="5439647"/>
            <a:ext cx="579923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587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原始架构图二次引用，强调 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原生载体与平台底座关系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318171" y="2337873"/>
            <a:ext cx="742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991349" y="2114549"/>
            <a:ext cx="4732845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lnSpc>
                <a:spcPct val="150000"/>
              </a:lnSpc>
              <a:defRPr sz="1650" b="1">
                <a:solidFill>
                  <a:srgbClr val="0F4C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双引擎一体化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原生架构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991349" y="2495549"/>
            <a:ext cx="4780174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lnSpc>
                <a:spcPct val="150000"/>
              </a:lnSpc>
              <a:def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设备时序分析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人员履职评价统一建模。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318171" y="3404673"/>
            <a:ext cx="742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991349" y="3181349"/>
            <a:ext cx="4732845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lnSpc>
                <a:spcPct val="150000"/>
              </a:lnSpc>
              <a:defRPr sz="1650" b="1">
                <a:solidFill>
                  <a:srgbClr val="0F4C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全域轻量可复用落地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991349" y="3562349"/>
            <a:ext cx="4780174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lnSpc>
                <a:spcPct val="150000"/>
              </a:lnSpc>
              <a:def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依托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WeAgent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平台封装标准化资产池。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318171" y="4471473"/>
            <a:ext cx="88984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991349" y="4248149"/>
            <a:ext cx="4732845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lnSpc>
                <a:spcPct val="150000"/>
              </a:lnSpc>
              <a:defRPr sz="1650" b="1">
                <a:solidFill>
                  <a:srgbClr val="0F4C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人机复合风险自主决策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991349" y="4629149"/>
            <a:ext cx="4780174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lnSpc>
                <a:spcPct val="150000"/>
              </a:lnSpc>
              <a:def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设备异常与人员漏检叠加，风险自动升级。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7700" y="215900"/>
            <a:ext cx="9525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技术创新点二：知识图谱筑基与轻量化交互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59278"/>
          <a:stretch>
            <a:fillRect/>
          </a:stretch>
        </p:blipFill>
        <p:spPr>
          <a:xfrm>
            <a:off x="11150600" y="0"/>
            <a:ext cx="10033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4" name="Connector 4"/>
          <p:cNvCxnSpPr/>
          <p:nvPr/>
        </p:nvCxnSpPr>
        <p:spPr>
          <a:xfrm rot="-7161">
            <a:off x="0" y="9144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0" y="330200"/>
            <a:ext cx="355600" cy="4064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19100" y="330200"/>
            <a:ext cx="127000" cy="406400"/>
          </a:xfrm>
          <a:prstGeom prst="roundRect">
            <a:avLst>
              <a:gd name="adj" fmla="val 0"/>
            </a:avLst>
          </a:prstGeom>
          <a:solidFill>
            <a:srgbClr val="7F7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85800" y="1587500"/>
            <a:ext cx="4953000" cy="1257300"/>
          </a:xfrm>
          <a:prstGeom prst="roundRect">
            <a:avLst>
              <a:gd name="adj" fmla="val 4040"/>
            </a:avLst>
          </a:prstGeom>
          <a:solidFill>
            <a:srgbClr val="F6FAFF">
              <a:alpha val="100000"/>
            </a:srgbClr>
          </a:solidFill>
          <a:ln w="12700" cap="flat" cmpd="sng">
            <a:solidFill>
              <a:srgbClr val="B9D7F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85800" y="1587500"/>
            <a:ext cx="63500" cy="12573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01700" y="1752600"/>
            <a:ext cx="45593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PIPENET 专属巡检知识图谱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01700" y="2159000"/>
            <a:ext cx="45593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构建设备台账、点位规范、故障特征、履职标准、隐患分级、维保规则六大核心知识库，为AI决策提供专业知识支撑。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553200" y="1587500"/>
            <a:ext cx="4953000" cy="1257300"/>
          </a:xfrm>
          <a:prstGeom prst="roundRect">
            <a:avLst>
              <a:gd name="adj" fmla="val 4040"/>
            </a:avLst>
          </a:prstGeom>
          <a:solidFill>
            <a:srgbClr val="F6FAFF">
              <a:alpha val="100000"/>
            </a:srgbClr>
          </a:solidFill>
          <a:ln w="12700" cap="flat" cmpd="sng">
            <a:solidFill>
              <a:srgbClr val="B9D7F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553200" y="1587500"/>
            <a:ext cx="63500" cy="1257300"/>
          </a:xfrm>
          <a:prstGeom prst="roundRect">
            <a:avLst>
              <a:gd name="adj" fmla="val 0"/>
            </a:avLst>
          </a:prstGeom>
          <a:solidFill>
            <a:srgbClr val="2C9C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769100" y="1752600"/>
            <a:ext cx="45593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WeAgent 轻量化智能体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769100" y="2159000"/>
            <a:ext cx="45593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替代人工完成跨系统数据清洗、时序关联、质量核验、隐患归集、报表生成的全流程自动化，大幅减少人工干预成本。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85800" y="3200400"/>
            <a:ext cx="4953000" cy="1257300"/>
          </a:xfrm>
          <a:prstGeom prst="roundRect">
            <a:avLst>
              <a:gd name="adj" fmla="val 4040"/>
            </a:avLst>
          </a:prstGeom>
          <a:solidFill>
            <a:srgbClr val="F6FAFF">
              <a:alpha val="100000"/>
            </a:srgbClr>
          </a:solidFill>
          <a:ln w="12700" cap="flat" cmpd="sng">
            <a:solidFill>
              <a:srgbClr val="B9D7F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85800" y="3200400"/>
            <a:ext cx="63500" cy="1257300"/>
          </a:xfrm>
          <a:prstGeom prst="roundRect">
            <a:avLst>
              <a:gd name="adj" fmla="val 0"/>
            </a:avLst>
          </a:prstGeom>
          <a:solidFill>
            <a:srgbClr val="F2B8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01700" y="3378200"/>
            <a:ext cx="45593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双模态轻量化交互模式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01700" y="3771900"/>
            <a:ext cx="45593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实现聊天窗口与极简可视化页面联动，一线人员无需掌握复杂系统操作，即可高效完成设备查询、隐患上报与结果反馈。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53200" y="3200400"/>
            <a:ext cx="4953000" cy="1257300"/>
          </a:xfrm>
          <a:prstGeom prst="roundRect">
            <a:avLst>
              <a:gd name="adj" fmla="val 4040"/>
            </a:avLst>
          </a:prstGeom>
          <a:solidFill>
            <a:srgbClr val="F6FAFF">
              <a:alpha val="100000"/>
            </a:srgbClr>
          </a:solidFill>
          <a:ln w="12700" cap="flat" cmpd="sng">
            <a:solidFill>
              <a:srgbClr val="B9D7F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553200" y="3200400"/>
            <a:ext cx="63500" cy="1257300"/>
          </a:xfrm>
          <a:prstGeom prst="roundRect">
            <a:avLst>
              <a:gd name="adj" fmla="val 0"/>
            </a:avLst>
          </a:prstGeom>
          <a:solidFill>
            <a:srgbClr val="D726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769100" y="3378200"/>
            <a:ext cx="45593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端到端业务闭环赋能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769100" y="3771900"/>
            <a:ext cx="45593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打通从知识输入、数据处理到交互应用的全链条，沉淀标准化AI资产，实现技术能力的快速复用与业务价值的即时转化。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739900" y="4953000"/>
            <a:ext cx="2095500" cy="1066800"/>
          </a:xfrm>
          <a:prstGeom prst="roundRect">
            <a:avLst>
              <a:gd name="adj" fmla="val 4761"/>
            </a:avLst>
          </a:prstGeom>
          <a:solidFill>
            <a:srgbClr val="F6FAFF">
              <a:alpha val="100000"/>
            </a:srgbClr>
          </a:solidFill>
          <a:ln w="12700" cap="flat" cmpd="sng">
            <a:solidFill>
              <a:srgbClr val="B9D7F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905000" y="5105400"/>
            <a:ext cx="17526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≤1天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905000" y="5588000"/>
            <a:ext cx="2126615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单场站轻量部署周期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054600" y="4953000"/>
            <a:ext cx="2456815" cy="1066800"/>
          </a:xfrm>
          <a:prstGeom prst="roundRect">
            <a:avLst>
              <a:gd name="adj" fmla="val 4761"/>
            </a:avLst>
          </a:prstGeom>
          <a:solidFill>
            <a:srgbClr val="F6FAFF">
              <a:alpha val="100000"/>
            </a:srgbClr>
          </a:solidFill>
          <a:ln w="12700" cap="flat" cmpd="sng">
            <a:solidFill>
              <a:srgbClr val="B9D7F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5219700" y="5105400"/>
            <a:ext cx="17526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80%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991100" y="5588000"/>
            <a:ext cx="251968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资料人工核查工作量</a:t>
            </a:r>
            <a:r>
              <a:rPr lang="en-US" sz="2000" b="1" i="0" u="none" strike="noStrike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降低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369300" y="4953000"/>
            <a:ext cx="2095500" cy="1066800"/>
          </a:xfrm>
          <a:prstGeom prst="roundRect">
            <a:avLst>
              <a:gd name="adj" fmla="val 4761"/>
            </a:avLst>
          </a:prstGeom>
          <a:solidFill>
            <a:srgbClr val="F6FAFF">
              <a:alpha val="100000"/>
            </a:srgbClr>
          </a:solidFill>
          <a:ln w="12700" cap="flat" cmpd="sng">
            <a:solidFill>
              <a:srgbClr val="B9D7F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534400" y="5105400"/>
            <a:ext cx="17526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60%+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534400" y="5588000"/>
            <a:ext cx="17526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考核统计工时</a:t>
            </a:r>
            <a:r>
              <a:rPr lang="en-US" sz="2000" b="1" i="0" u="none" strike="noStrike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缩减</a:t>
            </a:r>
            <a:endParaRPr lang="en-US" sz="11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091633" y="2597158"/>
            <a:ext cx="6606755" cy="2532692"/>
            <a:chOff x="5209763" y="1917001"/>
            <a:chExt cx="6606755" cy="2532692"/>
          </a:xfrm>
        </p:grpSpPr>
        <p:sp>
          <p:nvSpPr>
            <p:cNvPr id="2" name="文本框 1"/>
            <p:cNvSpPr txBox="1"/>
            <p:nvPr/>
          </p:nvSpPr>
          <p:spPr>
            <a:xfrm>
              <a:off x="6591465" y="1917001"/>
              <a:ext cx="1740309" cy="1861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3</a:t>
              </a:r>
              <a:endParaRPr lang="zh-CN" altLang="en-US" sz="115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8" name="文本框 7" descr="7b0a20202020227461726765744964223a202270726f636573734f6e6c696e65576f7264417274220a7d0a"/>
            <p:cNvSpPr txBox="1"/>
            <p:nvPr/>
          </p:nvSpPr>
          <p:spPr>
            <a:xfrm>
              <a:off x="5209763" y="2848025"/>
              <a:ext cx="1638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PART </a:t>
              </a:r>
              <a:endParaRPr lang="zh-CN" altLang="en-US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302053" y="3657213"/>
              <a:ext cx="6514465" cy="792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4000" b="1" dirty="0">
                  <a:solidFill>
                    <a:schemeClr val="bg2">
                      <a:lumMod val="90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价值成效</a:t>
              </a:r>
              <a:endParaRPr lang="zh-CN" altLang="en-US" sz="40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  <p:cxnSp>
          <p:nvCxnSpPr>
            <p:cNvPr id="5" name="直线连接符 4"/>
            <p:cNvCxnSpPr/>
            <p:nvPr/>
          </p:nvCxnSpPr>
          <p:spPr>
            <a:xfrm>
              <a:off x="5302053" y="3575212"/>
              <a:ext cx="5648262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7700" y="215900"/>
            <a:ext cx="1879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价值分析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59278"/>
          <a:stretch>
            <a:fillRect/>
          </a:stretch>
        </p:blipFill>
        <p:spPr>
          <a:xfrm>
            <a:off x="11150600" y="0"/>
            <a:ext cx="10033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4" name="Connector 4"/>
          <p:cNvCxnSpPr/>
          <p:nvPr/>
        </p:nvCxnSpPr>
        <p:spPr>
          <a:xfrm rot="-7161">
            <a:off x="0" y="9144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0" y="330200"/>
            <a:ext cx="355600" cy="4064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19100" y="330200"/>
            <a:ext cx="127000" cy="406400"/>
          </a:xfrm>
          <a:prstGeom prst="roundRect">
            <a:avLst>
              <a:gd name="adj" fmla="val 0"/>
            </a:avLst>
          </a:prstGeom>
          <a:solidFill>
            <a:srgbClr val="7F7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09600" y="1333500"/>
            <a:ext cx="10248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项目落地后，将从</a:t>
            </a:r>
            <a:r>
              <a:rPr lang="en-US" sz="3200" b="1" i="0" u="none" strike="noStrike">
                <a:solidFill>
                  <a:srgbClr val="FFD9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降本、提效、避险</a:t>
            </a: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三个维度创造综合价值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" y="2159000"/>
            <a:ext cx="4762500" cy="1130300"/>
          </a:xfrm>
          <a:prstGeom prst="roundRect">
            <a:avLst>
              <a:gd name="adj" fmla="val 5617"/>
            </a:avLst>
          </a:prstGeom>
          <a:solidFill>
            <a:srgbClr val="F6FAFF">
              <a:alpha val="100000"/>
            </a:srgbClr>
          </a:solidFill>
          <a:ln w="12700" cap="flat" cmpd="sng">
            <a:solidFill>
              <a:srgbClr val="B9D7F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11200" y="2159000"/>
            <a:ext cx="63500" cy="1130300"/>
          </a:xfrm>
          <a:prstGeom prst="roundRect">
            <a:avLst>
              <a:gd name="adj" fmla="val 0"/>
            </a:avLst>
          </a:prstGeom>
          <a:solidFill>
            <a:srgbClr val="D726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14400" y="2324100"/>
            <a:ext cx="43688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经济价值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14400" y="2730500"/>
            <a:ext cx="43688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替代人工逐条审核、手工汇总台账，单区域运维管理人力投入预计减少50%以上，有效降低运营成本。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045200" y="2159000"/>
            <a:ext cx="4762500" cy="1130300"/>
          </a:xfrm>
          <a:prstGeom prst="roundRect">
            <a:avLst>
              <a:gd name="adj" fmla="val 5617"/>
            </a:avLst>
          </a:prstGeom>
          <a:solidFill>
            <a:srgbClr val="F6FAFF">
              <a:alpha val="100000"/>
            </a:srgbClr>
          </a:solidFill>
          <a:ln w="12700" cap="flat" cmpd="sng">
            <a:solidFill>
              <a:srgbClr val="B9D7F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045200" y="2159000"/>
            <a:ext cx="63500" cy="1130300"/>
          </a:xfrm>
          <a:prstGeom prst="roundRect">
            <a:avLst>
              <a:gd name="adj" fmla="val 0"/>
            </a:avLst>
          </a:prstGeom>
          <a:solidFill>
            <a:srgbClr val="0F4C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48400" y="2324100"/>
            <a:ext cx="43688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安全价值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48400" y="2730500"/>
            <a:ext cx="43688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打通数据链实现双重风险识别，提前处置设备隐患与人员履职问题，消除管控盲区，筑牢安全防线。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11200" y="3683000"/>
            <a:ext cx="4762500" cy="1130300"/>
          </a:xfrm>
          <a:prstGeom prst="roundRect">
            <a:avLst>
              <a:gd name="adj" fmla="val 5617"/>
            </a:avLst>
          </a:prstGeom>
          <a:solidFill>
            <a:srgbClr val="F6FAFF">
              <a:alpha val="100000"/>
            </a:srgbClr>
          </a:solidFill>
          <a:ln w="12700" cap="flat" cmpd="sng">
            <a:solidFill>
              <a:srgbClr val="B9D7F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11200" y="3683000"/>
            <a:ext cx="63500" cy="1130300"/>
          </a:xfrm>
          <a:prstGeom prst="roundRect">
            <a:avLst>
              <a:gd name="adj" fmla="val 0"/>
            </a:avLst>
          </a:prstGeom>
          <a:solidFill>
            <a:srgbClr val="0F4C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14400" y="3848100"/>
            <a:ext cx="43688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管理价值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4400" y="4254500"/>
            <a:ext cx="43688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统一巡检数字化管控标准，形成可复制智能管控范式，沉淀数据资产，为管理决策提供科学支撑。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045200" y="3683000"/>
            <a:ext cx="4762500" cy="1130300"/>
          </a:xfrm>
          <a:prstGeom prst="roundRect">
            <a:avLst>
              <a:gd name="adj" fmla="val 5617"/>
            </a:avLst>
          </a:prstGeom>
          <a:solidFill>
            <a:srgbClr val="F6FAFF">
              <a:alpha val="100000"/>
            </a:srgbClr>
          </a:solidFill>
          <a:ln w="12700" cap="flat" cmpd="sng">
            <a:solidFill>
              <a:srgbClr val="B9D7F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045200" y="3683000"/>
            <a:ext cx="63500" cy="1130300"/>
          </a:xfrm>
          <a:prstGeom prst="roundRect">
            <a:avLst>
              <a:gd name="adj" fmla="val 0"/>
            </a:avLst>
          </a:prstGeom>
          <a:solidFill>
            <a:srgbClr val="0F4C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248400" y="3848100"/>
            <a:ext cx="43688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社会价值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48400" y="4254500"/>
            <a:ext cx="43688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补齐能源行业智能巡检短板，形成可落地、可复用的智能运维样板，保障国家能源安全稳定供应。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54100" y="5588000"/>
            <a:ext cx="98171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核心成效：预测性维护、质量自动核查、隐患闭环追溯、管理标准统一</a:t>
            </a:r>
            <a:endParaRPr lang="en-US" sz="11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cer搜索：半想象现实   http://chn.docer.com/works/?userid=199927538"/>
          <p:cNvSpPr txBox="1"/>
          <p:nvPr/>
        </p:nvSpPr>
        <p:spPr>
          <a:xfrm>
            <a:off x="648335" y="210820"/>
            <a:ext cx="1876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推广思路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43123" y="1721156"/>
            <a:ext cx="11360602" cy="5428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02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按照“试点验证、省内推广、集团普及、行业复用”四级路径稳步落地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24138" y="3595399"/>
            <a:ext cx="9715500" cy="38100"/>
          </a:xfrm>
          <a:prstGeom prst="rect">
            <a:avLst/>
          </a:prstGeom>
          <a:solidFill>
            <a:srgbClr val="B9D7F2"/>
          </a:solidFill>
          <a:ln w="0">
            <a:noFill/>
            <a:prstDash val="solid"/>
          </a:ln>
        </p:spPr>
      </p:sp>
      <p:sp>
        <p:nvSpPr>
          <p:cNvPr id="9" name="矩形: 圆角 8"/>
          <p:cNvSpPr>
            <a:spLocks noGrp="1"/>
          </p:cNvSpPr>
          <p:nvPr/>
        </p:nvSpPr>
        <p:spPr>
          <a:xfrm>
            <a:off x="976488" y="2966749"/>
            <a:ext cx="1066800" cy="1066800"/>
          </a:xfrm>
          <a:prstGeom prst="roundRect">
            <a:avLst>
              <a:gd name="adj" fmla="val 5357"/>
            </a:avLst>
          </a:prstGeom>
          <a:solidFill>
            <a:srgbClr val="0F4C81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186038" y="3138199"/>
            <a:ext cx="647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25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76488" y="3557299"/>
            <a:ext cx="971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试点先行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90713" y="4376449"/>
            <a:ext cx="20383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50000"/>
              </a:lnSpc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湖南公司 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PoC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原型验证，对接现有智能巡检与 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IMS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平台，沉淀示范样板。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: 圆角 33"/>
          <p:cNvSpPr>
            <a:spLocks noGrp="1"/>
          </p:cNvSpPr>
          <p:nvPr/>
        </p:nvSpPr>
        <p:spPr>
          <a:xfrm>
            <a:off x="3757788" y="2966749"/>
            <a:ext cx="1066800" cy="1066800"/>
          </a:xfrm>
          <a:prstGeom prst="roundRect">
            <a:avLst>
              <a:gd name="adj" fmla="val 5357"/>
            </a:avLst>
          </a:prstGeom>
          <a:solidFill>
            <a:srgbClr val="0F4C81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967338" y="3138199"/>
            <a:ext cx="647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25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853038" y="3557299"/>
            <a:ext cx="971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省内覆盖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262488" y="4338349"/>
            <a:ext cx="20383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50000"/>
              </a:lnSpc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成熟后覆盖省内场站、阀室，形成全域巡检质量智能管控。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: 圆角 37"/>
          <p:cNvSpPr>
            <a:spLocks noGrp="1"/>
          </p:cNvSpPr>
          <p:nvPr/>
        </p:nvSpPr>
        <p:spPr>
          <a:xfrm>
            <a:off x="6539088" y="2966749"/>
            <a:ext cx="1066800" cy="1066800"/>
          </a:xfrm>
          <a:prstGeom prst="roundRect">
            <a:avLst>
              <a:gd name="adj" fmla="val 5357"/>
            </a:avLst>
          </a:prstGeom>
          <a:solidFill>
            <a:srgbClr val="0F4C81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748638" y="3138199"/>
            <a:ext cx="647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25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599678" y="3557299"/>
            <a:ext cx="971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集团推广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043788" y="4338349"/>
            <a:ext cx="20383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50000"/>
              </a:lnSpc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纳入集团标准化建设体系，面向各省市子公司复制输出。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: 圆角 41"/>
          <p:cNvSpPr>
            <a:spLocks noGrp="1"/>
          </p:cNvSpPr>
          <p:nvPr/>
        </p:nvSpPr>
        <p:spPr>
          <a:xfrm>
            <a:off x="9320388" y="2966749"/>
            <a:ext cx="1066800" cy="1066800"/>
          </a:xfrm>
          <a:prstGeom prst="roundRect">
            <a:avLst>
              <a:gd name="adj" fmla="val 5357"/>
            </a:avLst>
          </a:prstGeom>
          <a:solidFill>
            <a:srgbClr val="0F4C81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9529938" y="3138199"/>
            <a:ext cx="647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25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415638" y="3557299"/>
            <a:ext cx="971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行业赋能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825087" y="4338349"/>
            <a:ext cx="2263389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50000"/>
              </a:lnSpc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形成油气管网智能巡检标准化解决方案，拓展至长输管网运维领域。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091633" y="2597158"/>
            <a:ext cx="6606755" cy="2532692"/>
            <a:chOff x="5209763" y="1917001"/>
            <a:chExt cx="6606755" cy="2532692"/>
          </a:xfrm>
        </p:grpSpPr>
        <p:sp>
          <p:nvSpPr>
            <p:cNvPr id="2" name="文本框 1"/>
            <p:cNvSpPr txBox="1"/>
            <p:nvPr/>
          </p:nvSpPr>
          <p:spPr>
            <a:xfrm>
              <a:off x="6591465" y="1917001"/>
              <a:ext cx="1740309" cy="1861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4</a:t>
              </a:r>
              <a:endParaRPr lang="zh-CN" altLang="en-US" sz="115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8" name="文本框 7" descr="7b0a20202020227461726765744964223a202270726f636573734f6e6c696e65576f7264417274220a7d0a"/>
            <p:cNvSpPr txBox="1"/>
            <p:nvPr/>
          </p:nvSpPr>
          <p:spPr>
            <a:xfrm>
              <a:off x="5209763" y="2848025"/>
              <a:ext cx="1638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PART </a:t>
              </a:r>
              <a:endParaRPr lang="zh-CN" altLang="en-US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302053" y="3657213"/>
              <a:ext cx="6514465" cy="792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4000" b="1" dirty="0">
                  <a:solidFill>
                    <a:schemeClr val="bg2">
                      <a:lumMod val="90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团队介绍</a:t>
              </a:r>
              <a:endParaRPr lang="zh-CN" altLang="en-US" sz="40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  <p:cxnSp>
          <p:nvCxnSpPr>
            <p:cNvPr id="5" name="直线连接符 4"/>
            <p:cNvCxnSpPr/>
            <p:nvPr/>
          </p:nvCxnSpPr>
          <p:spPr>
            <a:xfrm>
              <a:off x="5302053" y="3575212"/>
              <a:ext cx="5648262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cer搜索：半想象现实   http://chn.docer.com/works/?userid=199927538"/>
          <p:cNvSpPr txBox="1"/>
          <p:nvPr/>
        </p:nvSpPr>
        <p:spPr>
          <a:xfrm>
            <a:off x="648335" y="210820"/>
            <a:ext cx="1876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团队介绍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52553" y="1185907"/>
            <a:ext cx="11791401" cy="5720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“业务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技术”双向融合，具备从需求调研到跨区域复制的完整交付能力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76485" y="2065921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550" b="1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管网弈智先锋队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9822" y="2847975"/>
            <a:ext cx="523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725" b="1">
                <a:solidFill>
                  <a:srgbClr val="0F4C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2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吴春、程青青、王佳、黄岩、何燕龙</a:t>
            </a:r>
            <a:endParaRPr lang="zh-CN" altLang="en-US" sz="172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42925" y="4694555"/>
            <a:ext cx="11791315" cy="20313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>
                <a:solidFill>
                  <a:srgbClr val="FFFFFF"/>
                </a:solidFill>
                <a:sym typeface="微软雅黑" panose="020B0503020204020204" charset="-122"/>
              </a:rPr>
              <a:t>• 团队构成：由一线运检业务骨干、数字化管理专员、AI研发工程师协同组成，实现业务需求与技术实现的无缝衔接，精准把握现场痛点。</a:t>
            </a:r>
            <a:endParaRPr lang="en-US" sz="1500"/>
          </a:p>
          <a:p>
            <a:pPr marL="0" indent="0" algn="l">
              <a:lnSpc>
                <a:spcPct val="133000"/>
              </a:lnSpc>
            </a:pPr>
            <a:r>
              <a:rPr lang="en-US" sz="1500">
                <a:solidFill>
                  <a:srgbClr val="FFFFFF"/>
                </a:solidFill>
                <a:sym typeface="微软雅黑" panose="020B0503020204020204" charset="-122"/>
              </a:rPr>
              <a:t>• 技术储备：熟练掌握WeAgent、私有化大模型、IMS智能巡检、机器视觉等集团内部核心技术平台，具备快速整合与二次开发能力。</a:t>
            </a:r>
            <a:endParaRPr lang="en-US" sz="15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>
                <a:solidFill>
                  <a:srgbClr val="FFFFFF"/>
                </a:solidFill>
                <a:sym typeface="微软雅黑" panose="020B0503020204020204" charset="-122"/>
              </a:rPr>
              <a:t>• 落地经验：拥有丰富的科创项目落地、算法迭代优化及跨区域推广交付经验，能够高效应对不同场景的实施挑战，保障项目高质量交付。</a:t>
            </a:r>
            <a:endParaRPr lang="en-US" sz="15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>
                <a:solidFill>
                  <a:srgbClr val="FFFFFF"/>
                </a:solidFill>
                <a:sym typeface="微软雅黑" panose="020B0503020204020204" charset="-122"/>
              </a:rPr>
              <a:t>• 合规保障：方案基于集团私有化内网底座构建，所有数据流转闭环可控，确保数据安全合规，PoC原型可独立演示，具备极高的可行性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: 圆角 36"/>
          <p:cNvSpPr>
            <a:spLocks noGrp="1"/>
          </p:cNvSpPr>
          <p:nvPr/>
        </p:nvSpPr>
        <p:spPr>
          <a:xfrm>
            <a:off x="809823" y="3538137"/>
            <a:ext cx="9694760" cy="990600"/>
          </a:xfrm>
          <a:prstGeom prst="roundRect">
            <a:avLst>
              <a:gd name="adj" fmla="val 5769"/>
            </a:avLst>
          </a:prstGeom>
          <a:solidFill>
            <a:srgbClr val="F6FAFF"/>
          </a:solidFill>
          <a:ln w="9525">
            <a:solidFill>
              <a:srgbClr val="B9D7F2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76485" y="3535841"/>
            <a:ext cx="66675" cy="990600"/>
          </a:xfrm>
          <a:prstGeom prst="rect">
            <a:avLst/>
          </a:prstGeom>
          <a:solidFill>
            <a:srgbClr val="1E88E5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070555" y="3655612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5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团队优势</a:t>
            </a:r>
            <a:endParaRPr lang="zh-CN" altLang="en-US" sz="165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020978" y="4033437"/>
            <a:ext cx="735734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业务贴合真实场景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全链路落地经验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原创合规方案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复合型人才培养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7700" y="215900"/>
            <a:ext cx="279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核心成员履历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59278"/>
          <a:stretch>
            <a:fillRect/>
          </a:stretch>
        </p:blipFill>
        <p:spPr>
          <a:xfrm>
            <a:off x="11150600" y="0"/>
            <a:ext cx="10033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4" name="Connector 4"/>
          <p:cNvCxnSpPr/>
          <p:nvPr/>
        </p:nvCxnSpPr>
        <p:spPr>
          <a:xfrm rot="-7161">
            <a:off x="0" y="9144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0" y="330200"/>
            <a:ext cx="355600" cy="4064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19100" y="330200"/>
            <a:ext cx="127000" cy="406400"/>
          </a:xfrm>
          <a:prstGeom prst="roundRect">
            <a:avLst>
              <a:gd name="adj" fmla="val 0"/>
            </a:avLst>
          </a:prstGeom>
          <a:solidFill>
            <a:srgbClr val="7F7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12800" y="1231900"/>
            <a:ext cx="107950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汇聚生产运维、数字化与AI研发的复合型专家团队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171700"/>
            <a:ext cx="6883400" cy="374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吴春（项目负责人）：</a:t>
            </a:r>
            <a:r>
              <a:rPr lang="en-US" sz="15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湖南公司生产运维管理资深专家，统筹项目全流程，具备油气场站全生命周期管理与大型项目把控能力。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程青青（数字化业务骨干）：</a:t>
            </a:r>
            <a:r>
              <a:rPr lang="en-US" sz="15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科技创新与数字化工作管理者，牵头多项国家级科创项目，主导数字化转型战略规划与落地实施。</a:t>
            </a:r>
            <a:endParaRPr lang="en-US" sz="1500" b="0" i="0" u="none" strike="noStrike">
              <a:solidFill>
                <a:srgbClr val="FFFFFF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王佳（IMS项目资深项目经理）：</a:t>
            </a:r>
            <a:r>
              <a:rPr lang="en-US" sz="15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北京智网数科高级产品经理，深耕IMS系统领域，负责系统架构设计、功能优化与业务场景适配。</a:t>
            </a:r>
            <a:endParaRPr lang="en-US" sz="1500" b="0" i="0" u="none" strike="noStrike">
              <a:solidFill>
                <a:srgbClr val="FFFFFF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黄岩（AI数据研发工程师）：</a:t>
            </a:r>
            <a:r>
              <a:rPr lang="en-US" sz="15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专注数据架构治理与AI模型研发，搭建高效数据处理链路，为智能分析提供核心算法支撑。</a:t>
            </a:r>
            <a:endParaRPr lang="en-US" sz="1500" b="0" i="0" u="none" strike="noStrike">
              <a:solidFill>
                <a:srgbClr val="FFFFFF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何燕龙、彭灿明、姜天越：</a:t>
            </a:r>
            <a:r>
              <a:rPr lang="en-US" sz="15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分别深耕工艺运行监视、多平台接口开发、机器视觉模型调优领域，构建“业务-平台-算法”的完整技术闭环。</a:t>
            </a:r>
            <a:endParaRPr lang="en-US" sz="1500" b="0" i="0" u="none" strike="noStrike">
              <a:solidFill>
                <a:srgbClr val="FFFFFF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394700" y="1993900"/>
            <a:ext cx="2476500" cy="1066800"/>
          </a:xfrm>
          <a:prstGeom prst="roundRect">
            <a:avLst>
              <a:gd name="adj" fmla="val 4761"/>
            </a:avLst>
          </a:prstGeom>
          <a:solidFill>
            <a:srgbClr val="F6FAFF">
              <a:alpha val="100000"/>
            </a:srgbClr>
          </a:solidFill>
          <a:ln w="12700" cap="flat" cmpd="sng">
            <a:solidFill>
              <a:srgbClr val="B9D7F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572500" y="2146300"/>
            <a:ext cx="21336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统筹层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572500" y="2628900"/>
            <a:ext cx="21336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资深管理专家 把控项目全局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394700" y="3352800"/>
            <a:ext cx="2476500" cy="1066800"/>
          </a:xfrm>
          <a:prstGeom prst="roundRect">
            <a:avLst>
              <a:gd name="adj" fmla="val 4761"/>
            </a:avLst>
          </a:prstGeom>
          <a:solidFill>
            <a:srgbClr val="F6FAFF">
              <a:alpha val="100000"/>
            </a:srgbClr>
          </a:solidFill>
          <a:ln w="12700" cap="flat" cmpd="sng">
            <a:solidFill>
              <a:srgbClr val="B9D7F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572500" y="3505200"/>
            <a:ext cx="21336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研发层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572500" y="3975100"/>
            <a:ext cx="21336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AI算法攻坚 平台架构搭建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69300" y="4699000"/>
            <a:ext cx="2476500" cy="1066800"/>
          </a:xfrm>
          <a:prstGeom prst="roundRect">
            <a:avLst>
              <a:gd name="adj" fmla="val 4761"/>
            </a:avLst>
          </a:prstGeom>
          <a:solidFill>
            <a:srgbClr val="F6FAFF">
              <a:alpha val="100000"/>
            </a:srgbClr>
          </a:solidFill>
          <a:ln w="12700" cap="flat" cmpd="sng">
            <a:solidFill>
              <a:srgbClr val="B9D7F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572500" y="4851400"/>
            <a:ext cx="21336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D7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落地层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509000" y="5334000"/>
            <a:ext cx="22606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业务场景深耕 应急指挥保障</a:t>
            </a:r>
            <a:endParaRPr lang="en-US" sz="11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cer搜索：半想象现实   http://chn.docer.com/works/?userid=199927538"/>
          <p:cNvSpPr txBox="1"/>
          <p:nvPr/>
        </p:nvSpPr>
        <p:spPr>
          <a:xfrm>
            <a:off x="0" y="0"/>
            <a:ext cx="12192000" cy="685736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数字化让国家管网与众不同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Digital Transformation Makes PipeChina Unique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" name="组合 3"/>
          <p:cNvGrpSpPr>
            <a:grpSpLocks noChangeAspect="1"/>
          </p:cNvGrpSpPr>
          <p:nvPr/>
        </p:nvGrpSpPr>
        <p:grpSpPr>
          <a:xfrm>
            <a:off x="-218440" y="57785"/>
            <a:ext cx="2402840" cy="779780"/>
            <a:chOff x="136" y="363"/>
            <a:chExt cx="3784" cy="122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" r="100"/>
            <a:stretch>
              <a:fillRect/>
            </a:stretch>
          </p:blipFill>
          <p:spPr>
            <a:xfrm>
              <a:off x="136" y="363"/>
              <a:ext cx="2172" cy="1198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4" b="654"/>
            <a:stretch>
              <a:fillRect/>
            </a:stretch>
          </p:blipFill>
          <p:spPr>
            <a:xfrm>
              <a:off x="1752" y="541"/>
              <a:ext cx="2168" cy="105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82.34283464566926,&quot;left&quot;:198.8096850393701,&quot;top&quot;:176.9,&quot;width&quot;:326.4403149606299}"/>
</p:tagLst>
</file>

<file path=ppt/tags/tag2.xml><?xml version="1.0" encoding="utf-8"?>
<p:tagLst xmlns:p="http://schemas.openxmlformats.org/presentationml/2006/main">
  <p:tag name="KSO_WM_DIAGRAM_VIRTUALLY_FRAME" val="{&quot;height&quot;:282.34283464566926,&quot;left&quot;:198.8096850393701,&quot;top&quot;:176.9,&quot;width&quot;:326.4403149606299}"/>
</p:tagLst>
</file>

<file path=ppt/tags/tag3.xml><?xml version="1.0" encoding="utf-8"?>
<p:tagLst xmlns:p="http://schemas.openxmlformats.org/presentationml/2006/main">
  <p:tag name="KSO_WM_DIAGRAM_VIRTUALLY_FRAME" val="{&quot;height&quot;:282.34283464566926,&quot;left&quot;:198.8096850393701,&quot;top&quot;:176.9,&quot;width&quot;:326.4403149606299}"/>
</p:tagLst>
</file>

<file path=ppt/tags/tag4.xml><?xml version="1.0" encoding="utf-8"?>
<p:tagLst xmlns:p="http://schemas.openxmlformats.org/presentationml/2006/main">
  <p:tag name="KSO_WM_DIAGRAM_VIRTUALLY_FRAME" val="{&quot;height&quot;:282.34283464566926,&quot;left&quot;:198.8096850393701,&quot;top&quot;:176.9,&quot;width&quot;:326.4403149606299}"/>
</p:tagLst>
</file>

<file path=ppt/tags/tag5.xml><?xml version="1.0" encoding="utf-8"?>
<p:tagLst xmlns:p="http://schemas.openxmlformats.org/presentationml/2006/main">
  <p:tag name="KSO_WM_DIAGRAM_VIRTUALLY_FRAME" val="{&quot;height&quot;:282.34283464566926,&quot;left&quot;:198.8096850393701,&quot;top&quot;:176.9,&quot;width&quot;:326.4403149606299}"/>
</p:tagLst>
</file>

<file path=ppt/tags/tag6.xml><?xml version="1.0" encoding="utf-8"?>
<p:tagLst xmlns:p="http://schemas.openxmlformats.org/presentationml/2006/main">
  <p:tag name="KSO_WM_DIAGRAM_VIRTUALLY_FRAME" val="{&quot;height&quot;:282.34283464566926,&quot;left&quot;:198.8096850393701,&quot;top&quot;:176.9,&quot;width&quot;:326.4403149606299}"/>
</p:tagLst>
</file>

<file path=ppt/tags/tag7.xml><?xml version="1.0" encoding="utf-8"?>
<p:tagLst xmlns:p="http://schemas.openxmlformats.org/presentationml/2006/main">
  <p:tag name="KSO_WM_DIAGRAM_VIRTUALLY_FRAME" val="{&quot;height&quot;:282.34283464566926,&quot;left&quot;:198.8096850393701,&quot;top&quot;:176.9,&quot;width&quot;:326.4403149606299}"/>
</p:tagLst>
</file>

<file path=ppt/tags/tag8.xml><?xml version="1.0" encoding="utf-8"?>
<p:tagLst xmlns:p="http://schemas.openxmlformats.org/presentationml/2006/main">
  <p:tag name="KSO_WM_DIAGRAM_VIRTUALLY_FRAME" val="{&quot;height&quot;:282.34283464566926,&quot;left&quot;:198.8096850393701,&quot;top&quot;:176.9,&quot;width&quot;:326.4403149606299}"/>
</p:tagLst>
</file>

<file path=ppt/tags/tag9.xml><?xml version="1.0" encoding="utf-8"?>
<p:tagLst xmlns:p="http://schemas.openxmlformats.org/presentationml/2006/main">
  <p:tag name="KSO_WM_DIAGRAM_VIRTUALLY_FRAME" val="{&quot;height&quot;:282.34283464566926,&quot;left&quot;:198.8096850393701,&quot;top&quot;:176.9,&quot;width&quot;:326.4403149606299}"/>
</p:tagLst>
</file>

<file path=ppt/tags/tag10.xml><?xml version="1.0" encoding="utf-8"?>
<p:tagLst xmlns:p="http://schemas.openxmlformats.org/presentationml/2006/main">
  <p:tag name="KSO_WM_DIAGRAM_VIRTUALLY_FRAME" val="{&quot;height&quot;:282.34283464566926,&quot;left&quot;:198.8096850393701,&quot;top&quot;:176.9,&quot;width&quot;:326.4403149606299}"/>
</p:tagLst>
</file>

<file path=ppt/tags/tag11.xml><?xml version="1.0" encoding="utf-8"?>
<p:tagLst xmlns:p="http://schemas.openxmlformats.org/presentationml/2006/main">
  <p:tag name="KSO_WM_DIAGRAM_VIRTUALLY_FRAME" val="{&quot;height&quot;:282.34283464566926,&quot;left&quot;:198.8096850393701,&quot;top&quot;:176.9,&quot;width&quot;:326.4403149606299}"/>
</p:tagLst>
</file>

<file path=ppt/tags/tag12.xml><?xml version="1.0" encoding="utf-8"?>
<p:tagLst xmlns:p="http://schemas.openxmlformats.org/presentationml/2006/main">
  <p:tag name="KSO_WM_DIAGRAM_VIRTUALLY_FRAME" val="{&quot;height&quot;:282.34283464566926,&quot;left&quot;:198.8096850393701,&quot;top&quot;:176.9,&quot;width&quot;:326.4403149606299}"/>
</p:tagLst>
</file>

<file path=ppt/tags/tag13.xml><?xml version="1.0" encoding="utf-8"?>
<p:tagLst xmlns:p="http://schemas.openxmlformats.org/presentationml/2006/main">
  <p:tag name="KSO_DOCER_RESOURCE_TRACE_INFO" val="{&quot;id&quot;:&quot;50059171&quot;,&quot;origin&quot;:0,&quot;type&quot;:&quot;icons&quot;,&quot;user&quot;:&quot;256412177&quot;}"/>
</p:tagLst>
</file>

<file path=ppt/tags/tag14.xml><?xml version="1.0" encoding="utf-8"?>
<p:tagLst xmlns:p="http://schemas.openxmlformats.org/presentationml/2006/main">
  <p:tag name="KSO_DOCER_RESOURCE_TRACE_INFO" val="{&quot;id&quot;:&quot;50059171&quot;,&quot;origin&quot;:0,&quot;type&quot;:&quot;icons&quot;,&quot;user&quot;:&quot;256412177&quot;}"/>
</p:tagLst>
</file>

<file path=ppt/tags/tag15.xml><?xml version="1.0" encoding="utf-8"?>
<p:tagLst xmlns:p="http://schemas.openxmlformats.org/presentationml/2006/main">
  <p:tag name="KSO_DOCER_RESOURCE_TRACE_INFO" val="{&quot;id&quot;:&quot;50059171&quot;,&quot;origin&quot;:0,&quot;type&quot;:&quot;icons&quot;,&quot;user&quot;:&quot;256412177&quot;}"/>
</p:tagLst>
</file>

<file path=ppt/tags/tag16.xml><?xml version="1.0" encoding="utf-8"?>
<p:tagLst xmlns:p="http://schemas.openxmlformats.org/presentationml/2006/main">
  <p:tag name="KSO_DOCER_RESOURCE_TRACE_INFO" val="{&quot;id&quot;:&quot;50059171&quot;,&quot;origin&quot;:0,&quot;type&quot;:&quot;icons&quot;,&quot;user&quot;:&quot;256412177&quot;}"/>
</p:tagLst>
</file>

<file path=ppt/tags/tag17.xml><?xml version="1.0" encoding="utf-8"?>
<p:tagLst xmlns:p="http://schemas.openxmlformats.org/presentationml/2006/main">
  <p:tag name="KSO_DOCER_RESOURCE_TRACE_INFO" val="{&quot;id&quot;:&quot;50059171&quot;,&quot;origin&quot;:0,&quot;type&quot;:&quot;icons&quot;,&quot;user&quot;:&quot;256412177&quot;}"/>
</p:tagLst>
</file>

<file path=ppt/tags/tag18.xml><?xml version="1.0" encoding="utf-8"?>
<p:tagLst xmlns:p="http://schemas.openxmlformats.org/presentationml/2006/main">
  <p:tag name="KSO_DOCER_RESOURCE_TRACE_INFO" val="{&quot;id&quot;:&quot;50059171&quot;,&quot;origin&quot;:0,&quot;type&quot;:&quot;icons&quot;,&quot;user&quot;:&quot;256412177&quot;}"/>
</p:tagLst>
</file>

<file path=ppt/tags/tag19.xml><?xml version="1.0" encoding="utf-8"?>
<p:tagLst xmlns:p="http://schemas.openxmlformats.org/presentationml/2006/main">
  <p:tag name="KSO_DOCER_RESOURCE_TRACE_INFO" val="{&quot;id&quot;:&quot;50059171&quot;,&quot;origin&quot;:0,&quot;type&quot;:&quot;icons&quot;,&quot;user&quot;:&quot;256412177&quot;}"/>
</p:tagLst>
</file>

<file path=ppt/tags/tag20.xml><?xml version="1.0" encoding="utf-8"?>
<p:tagLst xmlns:p="http://schemas.openxmlformats.org/presentationml/2006/main">
  <p:tag name="KSO_DOCER_RESOURCE_TRACE_INFO" val="{&quot;id&quot;:&quot;50059171&quot;,&quot;origin&quot;:0,&quot;type&quot;:&quot;icons&quot;,&quot;user&quot;:&quot;256412177&quot;}"/>
</p:tagLst>
</file>

<file path=ppt/tags/tag21.xml><?xml version="1.0" encoding="utf-8"?>
<p:tagLst xmlns:p="http://schemas.openxmlformats.org/presentationml/2006/main">
  <p:tag name="KSO_DOCER_RESOURCE_TRACE_INFO" val="{&quot;id&quot;:&quot;50059171&quot;,&quot;origin&quot;:0,&quot;type&quot;:&quot;icons&quot;,&quot;user&quot;:&quot;256412177&quot;}"/>
</p:tagLst>
</file>

<file path=ppt/tags/tag22.xml><?xml version="1.0" encoding="utf-8"?>
<p:tagLst xmlns:p="http://schemas.openxmlformats.org/presentationml/2006/main">
  <p:tag name="KSO_DOCER_RESOURCE_TRACE_INFO" val="{&quot;id&quot;:&quot;50059171&quot;,&quot;origin&quot;:0,&quot;type&quot;:&quot;icons&quot;,&quot;user&quot;:&quot;256412177&quot;}"/>
</p:tagLst>
</file>

<file path=ppt/tags/tag23.xml><?xml version="1.0" encoding="utf-8"?>
<p:tagLst xmlns:p="http://schemas.openxmlformats.org/presentationml/2006/main">
  <p:tag name="KSO_DOCER_RESOURCE_TRACE_INFO" val="{&quot;id&quot;:&quot;50059171&quot;,&quot;origin&quot;:0,&quot;type&quot;:&quot;icons&quot;,&quot;user&quot;:&quot;256412177&quot;}"/>
</p:tagLst>
</file>

<file path=ppt/tags/tag24.xml><?xml version="1.0" encoding="utf-8"?>
<p:tagLst xmlns:p="http://schemas.openxmlformats.org/presentationml/2006/main">
  <p:tag name="KSO_DOCER_RESOURCE_TRACE_INFO" val="{&quot;id&quot;:&quot;50059171&quot;,&quot;origin&quot;:0,&quot;type&quot;:&quot;icons&quot;,&quot;user&quot;:&quot;256412177&quot;}"/>
</p:tagLst>
</file>

<file path=ppt/tags/tag25.xml><?xml version="1.0" encoding="utf-8"?>
<p:tagLst xmlns:p="http://schemas.openxmlformats.org/presentationml/2006/main">
  <p:tag name="KSO_DOCER_RESOURCE_TRACE_INFO" val="{&quot;id&quot;:&quot;50059171&quot;,&quot;origin&quot;:0,&quot;type&quot;:&quot;icons&quot;,&quot;user&quot;:&quot;256412177&quot;}"/>
</p:tagLst>
</file>

<file path=ppt/tags/tag26.xml><?xml version="1.0" encoding="utf-8"?>
<p:tagLst xmlns:p="http://schemas.openxmlformats.org/presentationml/2006/main">
  <p:tag name="KSO_DOCER_RESOURCE_TRACE_INFO" val="{&quot;id&quot;:&quot;50059171&quot;,&quot;origin&quot;:0,&quot;type&quot;:&quot;icons&quot;,&quot;user&quot;:&quot;256412177&quot;}"/>
</p:tagLst>
</file>

<file path=ppt/tags/tag27.xml><?xml version="1.0" encoding="utf-8"?>
<p:tagLst xmlns:p="http://schemas.openxmlformats.org/presentationml/2006/main">
  <p:tag name="KSO_DOCER_RESOURCE_TRACE_INFO" val="{&quot;id&quot;:&quot;50062380&quot;,&quot;origin&quot;:0,&quot;type&quot;:&quot;icons&quot;,&quot;user&quot;:&quot;256412177&quot;}"/>
</p:tagLst>
</file>

<file path=ppt/tags/tag28.xml><?xml version="1.0" encoding="utf-8"?>
<p:tagLst xmlns:p="http://schemas.openxmlformats.org/presentationml/2006/main">
  <p:tag name="KSO_DOCER_RESOURCE_TRACE_INFO" val="{&quot;id&quot;:&quot;50062380&quot;,&quot;origin&quot;:0,&quot;type&quot;:&quot;icons&quot;,&quot;user&quot;:&quot;256412177&quot;}"/>
</p:tagLst>
</file>

<file path=ppt/tags/tag29.xml><?xml version="1.0" encoding="utf-8"?>
<p:tagLst xmlns:p="http://schemas.openxmlformats.org/presentationml/2006/main">
  <p:tag name="KSO_WM_DIAGRAM_VIRTUALLY_FRAME" val="{&quot;height&quot;:187.65,&quot;left&quot;:68,&quot;top&quot;:141.05,&quot;width&quot;:834}"/>
</p:tagLst>
</file>

<file path=ppt/tags/tag30.xml><?xml version="1.0" encoding="utf-8"?>
<p:tagLst xmlns:p="http://schemas.openxmlformats.org/presentationml/2006/main">
  <p:tag name="KSO_WM_DIAGRAM_VIRTUALLY_FRAME" val="{&quot;height&quot;:187.65,&quot;left&quot;:68,&quot;top&quot;:141.05,&quot;width&quot;:834}"/>
</p:tagLst>
</file>

<file path=ppt/tags/tag31.xml><?xml version="1.0" encoding="utf-8"?>
<p:tagLst xmlns:p="http://schemas.openxmlformats.org/presentationml/2006/main">
  <p:tag name="KSO_WM_DIAGRAM_VIRTUALLY_FRAME" val="{&quot;height&quot;:187.65,&quot;left&quot;:68,&quot;top&quot;:141.05,&quot;width&quot;:834}"/>
</p:tagLst>
</file>

<file path=ppt/tags/tag32.xml><?xml version="1.0" encoding="utf-8"?>
<p:tagLst xmlns:p="http://schemas.openxmlformats.org/presentationml/2006/main">
  <p:tag name="KSO_WM_DIAGRAM_VIRTUALLY_FRAME" val="{&quot;height&quot;:187.65,&quot;left&quot;:68,&quot;top&quot;:141.05,&quot;width&quot;:834}"/>
</p:tagLst>
</file>

<file path=ppt/tags/tag33.xml><?xml version="1.0" encoding="utf-8"?>
<p:tagLst xmlns:p="http://schemas.openxmlformats.org/presentationml/2006/main">
  <p:tag name="KSO_WM_DIAGRAM_VIRTUALLY_FRAME" val="{&quot;height&quot;:187.65,&quot;left&quot;:68,&quot;top&quot;:141.05,&quot;width&quot;:834}"/>
</p:tagLst>
</file>

<file path=ppt/tags/tag34.xml><?xml version="1.0" encoding="utf-8"?>
<p:tagLst xmlns:p="http://schemas.openxmlformats.org/presentationml/2006/main">
  <p:tag name="KSO_WM_DIAGRAM_VIRTUALLY_FRAME" val="{&quot;height&quot;:187.65,&quot;left&quot;:68,&quot;top&quot;:141.05,&quot;width&quot;:834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4465</Words>
  <Application>WPS 演示</Application>
  <PresentationFormat>宽屏</PresentationFormat>
  <Paragraphs>559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宋体</vt:lpstr>
      <vt:lpstr>Wingdings</vt:lpstr>
      <vt:lpstr>华文黑体</vt:lpstr>
      <vt:lpstr>黑体</vt:lpstr>
      <vt:lpstr>微软雅黑</vt:lpstr>
      <vt:lpstr>Calibri</vt:lpstr>
      <vt:lpstr>Arial Unicode MS</vt:lpstr>
      <vt:lpstr>Noto Sans SC</vt:lpstr>
      <vt:lpstr>Songti SC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airbookpro</dc:creator>
  <cp:lastModifiedBy>13646</cp:lastModifiedBy>
  <cp:revision>84</cp:revision>
  <dcterms:created xsi:type="dcterms:W3CDTF">2026-03-13T03:38:00Z</dcterms:created>
  <dcterms:modified xsi:type="dcterms:W3CDTF">2026-06-28T07:35:07Z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2052-11.8.2.11718</vt:lpwstr>
  </property>
  <property fmtid="{D5CDD505-2E9C-101B-9397-08002B2CF9AE}" pid="3" name="KSOTemplateUUID">
    <vt:lpwstr>v1.0_mb_XVb3N1UkD7fPUFnq8IGCug==</vt:lpwstr>
  </property>
  <property fmtid="{D5CDD505-2E9C-101B-9397-08002B2CF9AE}" pid="4" name="ICV">
    <vt:lpwstr>5A2AC7B4E7C24BC2AA262EEB85E3C47A_13</vt:lpwstr>
  </property>
  <property fmtid="{D5CDD505-2E9C-101B-9397-08002B2CF9AE}" pid="5" name="EagleCloud">
    <vt:lpwstr>61676334b4e8422151e43967553014381f5e06876ebe2bbce66cedec39aecaac9e60da91a32bcea9066488722440b91e3349bb81254460c474b49c13f5516b5a39364240fb3cb2ed3f5b47b5a74b7b514fe5ad65986e278eb3388b4572c21524f5a6e3a43b2135e5138a198dc314c333c661013fb4632f4f7703c86241caf97</vt:lpwstr>
  </property>
  <property fmtid="{D5CDD505-2E9C-101B-9397-08002B2CF9AE}" pid="6" name="EagleCloud1">
    <vt:lpwstr>b025792f49aa3f180801c46814781ae53fb5bd39660972011dcbf88235880701a34ce3b0acc77f63219d8d86a637d176bafab009603913458f4e5ee86c9f8be7164e5d992716ced85027213bc9f1340924153375a0a5f4d2f5be1c664991678a09893dbfda50891ba6443ccc59993509fb6193b99a32ff079b4c5505bc357e5</vt:lpwstr>
  </property>
  <property fmtid="{D5CDD505-2E9C-101B-9397-08002B2CF9AE}" pid="7" name="EagleCloud2">
    <vt:lpwstr>6867f98f72298f9550a24f5cff7b96522edf99d503c8e36ff388921fdec91c3e06d877fcf935121d13b2753e07aa566b14950616a471c2cf18889e615ca4d98b61f1cfc5df6d255e6f9bd3f8cdeee49e8e706b5589ed11a23d0517eb61f58b1551955874220c2ff3b31c74a0706269240d0ecfe298ed314a4fea24a10aa02c5</vt:lpwstr>
  </property>
  <property fmtid="{D5CDD505-2E9C-101B-9397-08002B2CF9AE}" pid="8" name="EagleCloud3">
    <vt:lpwstr>c26</vt:lpwstr>
  </property>
</Properties>
</file>